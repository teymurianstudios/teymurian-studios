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9" r:id="rId11"/>
    <p:sldId id="270" r:id="rId12"/>
    <p:sldId id="271" r:id="rId13"/>
    <p:sldId id="275" r:id="rId14"/>
    <p:sldId id="27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420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7.png"/><Relationship Id="rId4" Type="http://schemas.openxmlformats.org/officeDocument/2006/relationships/image" Target="../media/image32.png"/><Relationship Id="rId9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27.png"/><Relationship Id="rId4" Type="http://schemas.openxmlformats.org/officeDocument/2006/relationships/image" Target="../media/image40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0" Type="http://schemas.openxmlformats.org/officeDocument/2006/relationships/image" Target="../media/image50.png"/><Relationship Id="rId4" Type="http://schemas.openxmlformats.org/officeDocument/2006/relationships/image" Target="../media/image46.png"/><Relationship Id="rId9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The Pharhad Road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0" dirty="0">
                <a:solidFill>
                  <a:srgbClr val="B9C2C9"/>
                </a:solidFill>
                <a:latin typeface="Aptos"/>
              </a:rPr>
              <a:t>Color manual and player reference</a:t>
            </a:r>
          </a:p>
        </p:txBody>
      </p:sp>
      <p:pic>
        <p:nvPicPr>
          <p:cNvPr id="6" name="Picture 5" descr="ppt_fit_0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02920"/>
            <a:ext cx="4983480" cy="28072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234440"/>
            <a:ext cx="5593080" cy="4700016"/>
          </a:xfrm>
          <a:prstGeom prst="rect">
            <a:avLst/>
          </a:prstGeom>
          <a:solidFill>
            <a:srgbClr val="182231"/>
          </a:solidFill>
          <a:ln w="2540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09344"/>
            <a:ext cx="5074920" cy="259689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 dirty="0">
                <a:solidFill>
                  <a:srgbClr val="F7F3DF"/>
                </a:solidFill>
                <a:latin typeface="Aptos"/>
              </a:rPr>
              <a:t>A road-by-road tactics game about keeping the heroes alive, waking the right fights, and using </a:t>
            </a:r>
            <a:r>
              <a:rPr sz="2400" b="1" dirty="0" err="1">
                <a:solidFill>
                  <a:srgbClr val="F7F3DF"/>
                </a:solidFill>
                <a:latin typeface="Aptos"/>
              </a:rPr>
              <a:t>Pharhad's</a:t>
            </a:r>
            <a:r>
              <a:rPr sz="2400" b="1" dirty="0">
                <a:solidFill>
                  <a:srgbClr val="F7F3DF"/>
                </a:solidFill>
                <a:latin typeface="Aptos"/>
              </a:rPr>
              <a:t> shrine and camp before the next clash.</a:t>
            </a:r>
          </a:p>
        </p:txBody>
      </p:sp>
      <p:pic>
        <p:nvPicPr>
          <p:cNvPr id="10" name="Picture 9" descr="ppt_fit_0002.png"/>
          <p:cNvPicPr>
            <a:picLocks noChangeAspect="1"/>
          </p:cNvPicPr>
          <p:nvPr/>
        </p:nvPicPr>
        <p:blipFill>
          <a:blip r:embed="rId3"/>
          <a:srcRect l="1078" t="16698" r="21750" b="57272"/>
          <a:stretch>
            <a:fillRect/>
          </a:stretch>
        </p:blipFill>
        <p:spPr>
          <a:xfrm>
            <a:off x="1582934" y="6256887"/>
            <a:ext cx="8538451" cy="4046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 dirty="0">
                <a:solidFill>
                  <a:srgbClr val="F7F3DF"/>
                </a:solidFill>
                <a:latin typeface="Aptos Display"/>
              </a:rPr>
              <a:t>Quick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>
                <a:solidFill>
                  <a:srgbClr val="B9C2C9"/>
                </a:solidFill>
                <a:latin typeface="Aptos"/>
              </a:rPr>
              <a:t>The short path from menu to road victory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621792" y="12527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1. Pick a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19072"/>
            <a:ext cx="5020056" cy="9326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Every mode now goes to a second screen. Choose the road, read the mode text, then press Start Game.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4300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6336792" y="12527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2. Take 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796902"/>
            <a:ext cx="5020056" cy="85485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0">
                <a:solidFill>
                  <a:srgbClr val="B9C2C9"/>
                </a:solidFill>
                <a:latin typeface="Aptos"/>
              </a:rPr>
              <a:t>On your turn, select a skill, pick a legal target, move, or end turn. The game log shows the player hint when you control that turn.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9184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3. Clear encounters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849624"/>
            <a:ext cx="5020056" cy="95097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After each encounter, recover before walking into the next group. Dead heroes need </a:t>
            </a:r>
            <a:r>
              <a:rPr b="0" dirty="0" err="1">
                <a:solidFill>
                  <a:srgbClr val="B9C2C9"/>
                </a:solidFill>
                <a:latin typeface="Aptos"/>
              </a:rPr>
              <a:t>Pharhad</a:t>
            </a:r>
            <a:r>
              <a:rPr b="0" dirty="0">
                <a:solidFill>
                  <a:srgbClr val="B9C2C9"/>
                </a:solidFill>
                <a:latin typeface="Aptos"/>
              </a:rPr>
              <a:t> Idol first; wounded heroes want Safe Camp.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291840"/>
            <a:ext cx="5257800" cy="160020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40156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4. Finish the 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4008474"/>
            <a:ext cx="5020056" cy="79212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Road 1 leads to Road 2, then Road 3, then Road 4 when the heroes survive. If Game Over appears and a save exists, choose Restart From Save to resume the last autosave.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623560"/>
            <a:ext cx="10744200" cy="804672"/>
          </a:xfrm>
          <a:prstGeom prst="rect">
            <a:avLst/>
          </a:prstGeom>
          <a:solidFill>
            <a:srgbClr val="05070A"/>
          </a:solidFill>
          <a:ln w="1651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960120" y="5797296"/>
            <a:ext cx="102870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700" b="1" dirty="0">
                <a:solidFill>
                  <a:srgbClr val="F7F3DF"/>
                </a:solidFill>
                <a:latin typeface="Aptos"/>
              </a:rPr>
              <a:t>Autosave loop: finish an encounter -&gt; recover -&gt; autosave -&gt; restart from that save after Game Over if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Menu And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>
                <a:solidFill>
                  <a:srgbClr val="B9C2C9"/>
                </a:solidFill>
                <a:latin typeface="Aptos"/>
              </a:rPr>
              <a:t>All modes use a road/setup screen before Start Game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247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7" name="TextBox 6"/>
          <p:cNvSpPr txBox="1"/>
          <p:nvPr/>
        </p:nvSpPr>
        <p:spPr>
          <a:xfrm>
            <a:off x="621792" y="1462199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Play Heroes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0246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Normal party control. Pick Road 1-4, then lead Vanguard, Wayfinder, Ember Sage, and Becky.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5247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6336792" y="1462199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Play Monsters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40246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Like Play Heroes, except you control the active monster turns. No monster-picking step. Flesh Beasts stay AI-only.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7410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621792" y="3183830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Play Pharhad / Send Cleric 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629977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Play Pharhad gives divine intervention turns. The gold Send Cleric Z button opens its own setup screen for a solo run with Love and Truth.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74102"/>
            <a:ext cx="5257800" cy="1143000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183830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>
                <a:solidFill>
                  <a:srgbClr val="F7F3DF"/>
                </a:solidFill>
                <a:latin typeface="Aptos"/>
              </a:rPr>
              <a:t>Hero Chess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629977"/>
            <a:ext cx="5020056" cy="6126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A tactical duel against rival heroes. Fog is off, player units glow blue, enemy units glow red, and rivals carry one Salve Vial.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892040"/>
            <a:ext cx="10835640" cy="987552"/>
          </a:xfrm>
          <a:prstGeom prst="rect">
            <a:avLst/>
          </a:prstGeom>
          <a:solidFill>
            <a:srgbClr val="223044"/>
          </a:solidFill>
          <a:ln w="1905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952499" y="5078321"/>
            <a:ext cx="10287000" cy="3840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600" b="1">
                <a:solidFill>
                  <a:srgbClr val="F7F3DF"/>
                </a:solidFill>
                <a:latin typeface="Aptos"/>
              </a:rPr>
              <a:t>Menu buttons: Music, Fog, 11s, Tutorial, Email Me, Rename. 11s has no color when off, turns red when on, and is disabled in Tutorial.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-1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Controls And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74310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0" dirty="0">
                <a:solidFill>
                  <a:srgbClr val="B9C2C9"/>
                </a:solidFill>
                <a:latin typeface="Aptos"/>
              </a:rPr>
              <a:t>Where to look during 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7" name="TextBox 6"/>
          <p:cNvSpPr txBox="1"/>
          <p:nvPr/>
        </p:nvSpPr>
        <p:spPr>
          <a:xfrm>
            <a:off x="621792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Turn 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Top row shows who acts next. The active icon has the large glowing box. Hero Chess uses blue player markers and red enemy markers; Cleric Z allies glow green.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0" name="TextBox 9"/>
          <p:cNvSpPr txBox="1"/>
          <p:nvPr/>
        </p:nvSpPr>
        <p:spPr>
          <a:xfrm>
            <a:off x="4434840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Game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Skill selections write full explanations here, including cost, range, dice, saves, and special effects.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2" y="1426890"/>
            <a:ext cx="3566160" cy="2002109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3" name="TextBox 12"/>
          <p:cNvSpPr txBox="1"/>
          <p:nvPr/>
        </p:nvSpPr>
        <p:spPr>
          <a:xfrm>
            <a:off x="8238744" y="1536618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Stats Popup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2089094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Click or tap icons to inspect units, items, and map features. The popup opens at the top-left with a darker background.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6" name="TextBox 15"/>
          <p:cNvSpPr txBox="1"/>
          <p:nvPr/>
        </p:nvSpPr>
        <p:spPr>
          <a:xfrm>
            <a:off x="621792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Target Highlights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During player-controlled turns, legal enemy targets are highlighted orange. Converted Cleric Z allies stay visually separate from monsters with green glow markers.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19" name="TextBox 18"/>
          <p:cNvSpPr txBox="1"/>
          <p:nvPr/>
        </p:nvSpPr>
        <p:spPr>
          <a:xfrm>
            <a:off x="4434840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Fog can be toggled from the menu. Play Monsters and Hero Chess run with fog off; Truth still respects line of sight and cannot pass through walls.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19872" y="3785202"/>
            <a:ext cx="3566160" cy="1775626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400"/>
          </a:p>
        </p:txBody>
      </p:sp>
      <p:sp>
        <p:nvSpPr>
          <p:cNvPr id="22" name="TextBox 21"/>
          <p:cNvSpPr txBox="1"/>
          <p:nvPr/>
        </p:nvSpPr>
        <p:spPr>
          <a:xfrm>
            <a:off x="8238744" y="3894930"/>
            <a:ext cx="3328415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200" b="1">
                <a:solidFill>
                  <a:srgbClr val="F7F3DF"/>
                </a:solidFill>
                <a:latin typeface="Aptos"/>
              </a:rPr>
              <a:t>Menu Pause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511202"/>
            <a:ext cx="3328415" cy="694944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Opening the game menu pauses game activity and blocks status icon clicks while music keeps playing.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3600" b="1">
                <a:solidFill>
                  <a:srgbClr val="F7F3DF"/>
                </a:solidFill>
                <a:latin typeface="Aptos Display"/>
              </a:rPr>
              <a:t>11s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992660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0" dirty="0">
                <a:solidFill>
                  <a:srgbClr val="B9C2C9"/>
                </a:solidFill>
                <a:latin typeface="Aptos"/>
              </a:rPr>
              <a:t>Fast turns with sound cues and a visible 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00737"/>
            <a:ext cx="2971800" cy="3504910"/>
          </a:xfrm>
          <a:prstGeom prst="rect">
            <a:avLst/>
          </a:prstGeom>
          <a:solidFill>
            <a:srgbClr val="FF5C57"/>
          </a:solidFill>
          <a:ln w="25400">
            <a:solidFill>
              <a:srgbClr val="0507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1234440" y="1855600"/>
            <a:ext cx="1828800" cy="1033273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/>
            <a:r>
              <a:rPr sz="6000" b="1" dirty="0">
                <a:solidFill>
                  <a:srgbClr val="F7F3DF"/>
                </a:solidFill>
                <a:latin typeface="Aptos Display"/>
              </a:rPr>
              <a:t>11s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54632"/>
            <a:ext cx="2523744" cy="1932789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ctr"/>
            <a:r>
              <a:rPr b="1" dirty="0">
                <a:solidFill>
                  <a:srgbClr val="F7F3DF"/>
                </a:solidFill>
                <a:latin typeface="Aptos"/>
              </a:rPr>
              <a:t>When enabled, the player has 11 seconds to choose a turn. The last 3 seconds play the button sound, and the timer hitting 0 plays the turn-advance cue.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69080" y="174587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0" name="TextBox 9"/>
          <p:cNvSpPr txBox="1"/>
          <p:nvPr/>
        </p:nvSpPr>
        <p:spPr>
          <a:xfrm>
            <a:off x="4187952" y="1770536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Actions finish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87952" y="223795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The timer advances the turn after the time limit, but it still lets actions already started finish cleanly.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18120" y="174587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3" name="TextBox 12"/>
          <p:cNvSpPr txBox="1"/>
          <p:nvPr/>
        </p:nvSpPr>
        <p:spPr>
          <a:xfrm>
            <a:off x="7936992" y="1770536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Tutorial lockout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23795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Tutorial disables 11s mode so new players can read, inspect, and learn without pressure.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69080" y="3483233"/>
            <a:ext cx="3429000" cy="123444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4187952" y="3497264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Clock location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87952" y="397531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The clock-like timer sits under the player turn queue icon so it is visible without covering the board.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3483232"/>
            <a:ext cx="3429000" cy="1427095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9" name="TextBox 18"/>
          <p:cNvSpPr txBox="1"/>
          <p:nvPr/>
        </p:nvSpPr>
        <p:spPr>
          <a:xfrm>
            <a:off x="7936992" y="3497264"/>
            <a:ext cx="31912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800" b="1" dirty="0">
                <a:solidFill>
                  <a:srgbClr val="F7F3DF"/>
                </a:solidFill>
                <a:latin typeface="Aptos"/>
              </a:rPr>
              <a:t>Menu colors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975310"/>
            <a:ext cx="3191256" cy="70408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11s turns red when active. When it is off, the button has no special color so it reads like a normal inactive menu option.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6109"/>
            <a:ext cx="10287000" cy="89228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2400" b="1" dirty="0">
                <a:solidFill>
                  <a:srgbClr val="F6C94C"/>
                </a:solidFill>
                <a:latin typeface="Aptos"/>
              </a:rPr>
              <a:t>Use 11s after you already know the icons. It turns the game into a quick-read tactics drill.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Hero Party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 dirty="0">
                <a:solidFill>
                  <a:srgbClr val="B9C2C9"/>
                </a:solidFill>
                <a:latin typeface="Aptos"/>
              </a:rPr>
              <a:t>The four playable heroes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pt_fit_0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" y="2534922"/>
            <a:ext cx="3493008" cy="34930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Vanguard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263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14 | Move 6 | Guard 17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+5 | Damage +7 | Init +2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16 DEX 14 CON 15 WIS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ppt_fit_0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0839" y="2534922"/>
            <a:ext cx="3493008" cy="34930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78808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Wayfinder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6055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14 | Move 7 | Guard 14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+4 | Damage +2 | Init +2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12 DEX 15 CON 14 WIS 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8504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ppt_fit_0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631" y="2534922"/>
            <a:ext cx="3493008" cy="34930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86600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Ember Sage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3847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HP 9 | Move 6 | Guard 14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Attack +4 | Damage +1 | Init +0</a:t>
            </a:r>
          </a:p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STR 10 DEX 12 CON 16 WIS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1051560"/>
            <a:ext cx="2633472" cy="4480560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fit_00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423" y="2534922"/>
            <a:ext cx="3493008" cy="34930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994392" y="1170431"/>
            <a:ext cx="173736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1">
                <a:solidFill>
                  <a:srgbClr val="F7F3DF"/>
                </a:solidFill>
                <a:latin typeface="Aptos"/>
              </a:rPr>
              <a:t>Becky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39" y="1463039"/>
            <a:ext cx="2438401" cy="3977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HP 14 | Move 9 | Guard 14</a:t>
            </a:r>
          </a:p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Attack +4 | Damage +2 | Init +6</a:t>
            </a:r>
          </a:p>
          <a:p>
            <a:pPr algn="l"/>
            <a:r>
              <a:rPr sz="1400" b="0" dirty="0">
                <a:solidFill>
                  <a:srgbClr val="B9C2C9"/>
                </a:solidFill>
                <a:latin typeface="Aptos"/>
              </a:rPr>
              <a:t>STR 12 DEX 20 CON 14 WIS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6080760"/>
            <a:ext cx="105156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ctr"/>
            <a:r>
              <a:rPr sz="1300" b="1">
                <a:solidFill>
                  <a:srgbClr val="B9C2C9"/>
                </a:solidFill>
                <a:latin typeface="Aptos"/>
              </a:rPr>
              <a:t>Rename keeps the roles clear: Vanguard, Wayfinder, Ember Sage, and Becky remain the four hero slots.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Hero Skill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600" b="0">
                <a:solidFill>
                  <a:srgbClr val="B9C2C9"/>
                </a:solidFill>
                <a:latin typeface="Aptos"/>
              </a:rPr>
              <a:t>What the party is built to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2412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Vanguard</a:t>
            </a:r>
          </a:p>
        </p:txBody>
      </p:sp>
      <p:pic>
        <p:nvPicPr>
          <p:cNvPr id="8" name="Picture 7" descr="ppt_fit_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27048"/>
            <a:ext cx="502920" cy="502920"/>
          </a:xfrm>
          <a:prstGeom prst="rect">
            <a:avLst/>
          </a:prstGeom>
        </p:spPr>
      </p:pic>
      <p:pic>
        <p:nvPicPr>
          <p:cNvPr id="9" name="Picture 8" descr="ppt_fit_00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0512" y="1527048"/>
            <a:ext cx="502920" cy="502920"/>
          </a:xfrm>
          <a:prstGeom prst="rect">
            <a:avLst/>
          </a:prstGeom>
        </p:spPr>
      </p:pic>
      <p:pic>
        <p:nvPicPr>
          <p:cNvPr id="10" name="Picture 9" descr="ppt_fit_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4" y="1527048"/>
            <a:ext cx="502920" cy="502920"/>
          </a:xfrm>
          <a:prstGeom prst="rect">
            <a:avLst/>
          </a:prstGeom>
        </p:spPr>
      </p:pic>
      <p:pic>
        <p:nvPicPr>
          <p:cNvPr id="11" name="Picture 10" descr="ppt_fit_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8496" y="1527048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4088" y="215256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Steel Brand: Cost: Action. Range: 1-1 ft. Roll: 1d8 Slashing.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Grit Mend: Bonus: Heal 1d10 +2 Cost: Bonus Action.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Tempo Break: Free Action: Take one additional Attack action this turn. 1 per Food. Cost: Free.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Spear: Cost: Action. Range: 0-4 ft. Roll: 1d6 Piercing.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2412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82512" y="117043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Wayfinder</a:t>
            </a:r>
          </a:p>
        </p:txBody>
      </p:sp>
      <p:pic>
        <p:nvPicPr>
          <p:cNvPr id="15" name="Picture 14" descr="ppt_fit_0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27048"/>
            <a:ext cx="502920" cy="502920"/>
          </a:xfrm>
          <a:prstGeom prst="rect">
            <a:avLst/>
          </a:prstGeom>
        </p:spPr>
      </p:pic>
      <p:pic>
        <p:nvPicPr>
          <p:cNvPr id="16" name="Picture 15" descr="ppt_fit_00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1527048"/>
            <a:ext cx="502920" cy="502920"/>
          </a:xfrm>
          <a:prstGeom prst="rect">
            <a:avLst/>
          </a:prstGeom>
        </p:spPr>
      </p:pic>
      <p:pic>
        <p:nvPicPr>
          <p:cNvPr id="17" name="Picture 16" descr="ppt_fit_00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04504" y="1527048"/>
            <a:ext cx="502920" cy="502920"/>
          </a:xfrm>
          <a:prstGeom prst="rect">
            <a:avLst/>
          </a:prstGeom>
        </p:spPr>
      </p:pic>
      <p:pic>
        <p:nvPicPr>
          <p:cNvPr id="18" name="Picture 17" descr="ppt_fit_002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83496" y="1527048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9088" y="215256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Trail Bow: Slow: -10 ft movement Cost: Action. Range: 2-30 ft. Roll: 1d8 Slashing.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Quarry Brand: Bonus Action: Mark one enemy in range. Deal +1d6 Force on every hit against the...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Food: The party eats food between encounters. Vanguard regains 1 Grit Mend, Tempo Bre...</a:t>
            </a:r>
          </a:p>
          <a:p>
            <a:pPr algn="l"/>
            <a:r>
              <a:rPr sz="800" b="0">
                <a:solidFill>
                  <a:srgbClr val="B9C2C9"/>
                </a:solidFill>
                <a:latin typeface="Aptos"/>
              </a:rPr>
              <a:t>Auto Move: Cost: Free.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4728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7512" y="359359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Ember Sage</a:t>
            </a:r>
          </a:p>
        </p:txBody>
      </p:sp>
      <p:pic>
        <p:nvPicPr>
          <p:cNvPr id="22" name="Picture 21" descr="ppt_fit_002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3950208"/>
            <a:ext cx="502920" cy="502920"/>
          </a:xfrm>
          <a:prstGeom prst="rect">
            <a:avLst/>
          </a:prstGeom>
        </p:spPr>
      </p:pic>
      <p:pic>
        <p:nvPicPr>
          <p:cNvPr id="23" name="Picture 22" descr="ppt_fit_002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10512" y="3950208"/>
            <a:ext cx="502920" cy="502920"/>
          </a:xfrm>
          <a:prstGeom prst="rect">
            <a:avLst/>
          </a:prstGeom>
        </p:spPr>
      </p:pic>
      <p:pic>
        <p:nvPicPr>
          <p:cNvPr id="24" name="Picture 23" descr="ppt_fit_002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89504" y="3950208"/>
            <a:ext cx="502920" cy="502920"/>
          </a:xfrm>
          <a:prstGeom prst="rect">
            <a:avLst/>
          </a:prstGeom>
        </p:spPr>
      </p:pic>
      <p:pic>
        <p:nvPicPr>
          <p:cNvPr id="25" name="Picture 24" descr="ppt_fit_00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68496" y="3950208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4088" y="457572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Ember Shot: Cost: Action. Range: 2-24 ft. Roll: 1d10 Slashing.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Homing Sparks: Cost: Action. Range: 1-24 ft. Roll: 3d4+3 Psychic.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Inner Flare: Cost: Bonus Action.</a:t>
            </a:r>
          </a:p>
          <a:p>
            <a:pPr algn="l"/>
            <a:r>
              <a:rPr sz="900" b="0" dirty="0">
                <a:solidFill>
                  <a:srgbClr val="B9C2C9"/>
                </a:solidFill>
                <a:latin typeface="Aptos"/>
              </a:rPr>
              <a:t>Field Mend: Touch to Heal 2d8 + Wis [1 focus] Cost: Action. Range: 1-1 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447288"/>
            <a:ext cx="5257800" cy="1874519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3593592"/>
            <a:ext cx="1920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1">
                <a:solidFill>
                  <a:srgbClr val="F7F3DF"/>
                </a:solidFill>
                <a:latin typeface="Aptos"/>
              </a:rPr>
              <a:t>Becky</a:t>
            </a:r>
          </a:p>
        </p:txBody>
      </p:sp>
      <p:pic>
        <p:nvPicPr>
          <p:cNvPr id="29" name="Picture 28" descr="ppt_fit_002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46520" y="3950208"/>
            <a:ext cx="502920" cy="502920"/>
          </a:xfrm>
          <a:prstGeom prst="rect">
            <a:avLst/>
          </a:prstGeom>
        </p:spPr>
      </p:pic>
      <p:pic>
        <p:nvPicPr>
          <p:cNvPr id="30" name="Picture 29" descr="ppt_fit_00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5512" y="3950208"/>
            <a:ext cx="502920" cy="502920"/>
          </a:xfrm>
          <a:prstGeom prst="rect">
            <a:avLst/>
          </a:prstGeom>
        </p:spPr>
      </p:pic>
      <p:pic>
        <p:nvPicPr>
          <p:cNvPr id="31" name="Picture 30" descr="ppt_fit_00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4" y="3950208"/>
            <a:ext cx="502920" cy="502920"/>
          </a:xfrm>
          <a:prstGeom prst="rect">
            <a:avLst/>
          </a:prstGeom>
        </p:spPr>
      </p:pic>
      <p:pic>
        <p:nvPicPr>
          <p:cNvPr id="32" name="Picture 31" descr="ppt_fit_002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83496" y="3950208"/>
            <a:ext cx="502920" cy="5029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19088" y="4575728"/>
            <a:ext cx="484632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Two Kicks: ADV next attack Cost: Action. Range: 1-2 ft. Roll: 1d6+4 Bludgeoning. Save: Dex...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Spear: Cost: Action. Range: 0-4 ft. Roll: 1d6 Piercing.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Tempo Break: Free Action: Take one additional Attack action this turn. 1 per Food. Cost: Free.</a:t>
            </a:r>
          </a:p>
          <a:p>
            <a:pPr algn="l"/>
            <a:r>
              <a:rPr sz="900" b="0">
                <a:solidFill>
                  <a:srgbClr val="B9C2C9"/>
                </a:solidFill>
                <a:latin typeface="Aptos"/>
              </a:rPr>
              <a:t>Field Mend: Touch to Heal 2d8 + Wis [1 focus] Cost: Action. Range: 1-1 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Enemies And Rivals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What fights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17" y="928287"/>
            <a:ext cx="1588685" cy="15886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Scout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Basic road fighter. Numbers matter more than one big hit.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7 | Move 6 | Guard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965" y="928287"/>
            <a:ext cx="1588685" cy="15886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Captain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Captain pressure piece. Watch clustering and focus fire.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21 | Move 6 | Guard 17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078992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0013" y="928287"/>
            <a:ext cx="1588685" cy="15886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97112" y="1197864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Thistlekin General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1490472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Now the Thistlekin General. Stronger road leader.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21 | Move 6 | Guard 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D44A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917" y="3049696"/>
            <a:ext cx="1588685" cy="15886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71016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Flesh Beast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Renamed Flesh Beast. AI-only in Play Monsters.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11 | Move 8 | Guard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6965" y="3049696"/>
            <a:ext cx="1588685" cy="15886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84064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Cave Brute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Heavy hitter with high HP and guard.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27 | Move 6 | Guard 16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2004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7" name="Picture 26" descr="ppt_fit_00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0013" y="3049696"/>
            <a:ext cx="1588685" cy="15886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897112" y="33192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Pharhad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97112" y="36118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Powerful protector in Play Pharhad mode.</a:t>
            </a:r>
          </a:p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HP 110 | Move 30 | Guard 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5431536"/>
            <a:ext cx="10561320" cy="1188720"/>
          </a:xfrm>
          <a:prstGeom prst="rect">
            <a:avLst/>
          </a:prstGeom>
          <a:solidFill>
            <a:srgbClr val="05070A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31" name="TextBox 30"/>
          <p:cNvSpPr txBox="1"/>
          <p:nvPr/>
        </p:nvSpPr>
        <p:spPr>
          <a:xfrm>
            <a:off x="960120" y="5779008"/>
            <a:ext cx="10259568" cy="27465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ctr"/>
            <a:r>
              <a:rPr sz="1600" b="1">
                <a:solidFill>
                  <a:srgbClr val="F7F3DF"/>
                </a:solidFill>
                <a:latin typeface="Aptos"/>
              </a:rPr>
              <a:t>Hero Chess marks players blue and enemies red on the map and turn queue. Cleric Z converts enemies into allies with glowing green markers.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Items And Map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Pickups and recovery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4" y="1280159"/>
            <a:ext cx="1103037" cy="11030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Cost: Action. Range: 0-4 ft. Roll: 1d6 Piercing.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2" y="1280159"/>
            <a:ext cx="1103037" cy="11030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84064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eats food between encounters. Vanguard regains 1 Grit Mend, Tempo Break refreshes, Ember Sage and Wayfinder regain 1 focus charge. Cost: Free.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14300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140" y="1280159"/>
            <a:ext cx="1103037" cy="11030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97112" y="126187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Safe Camp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7112" y="155448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makes a safe camp. All resources fully restored and HP fully healed. Cost: Free.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9184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3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4" y="3428999"/>
            <a:ext cx="1103037" cy="110303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71016" y="341071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Pharhad Idol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1016" y="370332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Stand next to the idol between encounters to bring every dead hero back to life. Cost: Free.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8" y="3291840"/>
            <a:ext cx="3429000" cy="1572768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4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7092" y="3428999"/>
            <a:ext cx="1103037" cy="1103037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84064" y="3410712"/>
            <a:ext cx="25328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Salve Vial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703320"/>
            <a:ext cx="2551176" cy="106984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2d4+2 Salve Vial Cost: Action.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623560"/>
            <a:ext cx="10424160" cy="402336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85000" lnSpcReduction="10000"/>
          </a:bodyPr>
          <a:lstStyle/>
          <a:p>
            <a:pPr algn="ctr"/>
            <a:r>
              <a:rPr sz="1800" b="1">
                <a:solidFill>
                  <a:srgbClr val="F6C94C"/>
                </a:solidFill>
                <a:latin typeface="Aptos"/>
              </a:rPr>
              <a:t>Post-encounter hint: revive dead heroes at Pharhad Idol first, then use Safe Camp to restore skills and health.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89787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0" dirty="0">
                <a:solidFill>
                  <a:srgbClr val="B9C2C9"/>
                </a:solidFill>
                <a:latin typeface="Aptos"/>
              </a:rPr>
              <a:t>Attack and pressure skills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7" name="Picture 6" descr="ppt_fit_0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051560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033271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Steel Brand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32588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1-1 ft. Roll: 1d8 Slashing.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91440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1" name="Picture 10" descr="ppt_fit_00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051560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033271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Quick Blade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32588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Vex: ADV next attack. Cost: Action. Range: 1-1 ft. Roll: 1d6 Slashing.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8424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5" name="Picture 14" descr="ppt_fit_00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121408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10312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Cleaver Strike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39572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Graze: damage on miss Cost: Action. Range: 1-1 ft. Roll: 2d6 Slashing.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8424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19" name="Picture 18" descr="ppt_fit_00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121408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10312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Curved Blade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39572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1-1 ft. Roll: 1d6 Slashing.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5409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23" name="Picture 22" descr="ppt_fit_004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191256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17296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Iron Maul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46557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Roll: 2d8 Piercing.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5409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27" name="Picture 26" descr="ppt_fit_00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3191256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17296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Trail Bow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46557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Slow: -10 ft movement Cost: Action. Range: 2-30 ft. Roll: 1d8 Slashing.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12394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1" name="Picture 30" descr="ppt_fit_005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" y="4261104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24281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Skirmish Bow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453542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Cost: Action. Range: 2-16 ft. Roll: 1d6 Slashing.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2394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5" name="Picture 34" descr="ppt_fit_005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648" y="4261104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24281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 dirty="0">
                <a:solidFill>
                  <a:srgbClr val="F7F3DF"/>
                </a:solidFill>
                <a:latin typeface="Aptos"/>
              </a:rPr>
              <a:t>Bolt Launcher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535424"/>
            <a:ext cx="4379976" cy="34747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 dirty="0">
                <a:solidFill>
                  <a:srgbClr val="B9C2C9"/>
                </a:solidFill>
                <a:latin typeface="Aptos"/>
              </a:rPr>
              <a:t>Push: 10 ft Cost: Action. Range: 2-20 ft. Roll: 1d10 Slashing.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19379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39" name="Picture 38" descr="ppt_fit_00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" y="5330952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31266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>
                <a:solidFill>
                  <a:srgbClr val="F7F3DF"/>
                </a:solidFill>
                <a:latin typeface="Aptos"/>
              </a:rPr>
              <a:t>Spear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560527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 dirty="0">
                <a:solidFill>
                  <a:srgbClr val="B9C2C9"/>
                </a:solidFill>
                <a:latin typeface="Aptos"/>
              </a:rPr>
              <a:t>Cost: Action. Range: 0-4 ft. Roll: 1d6 Piercing.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19379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pic>
        <p:nvPicPr>
          <p:cNvPr id="43" name="Picture 42" descr="ppt_fit_005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7648" y="5330952"/>
            <a:ext cx="585216" cy="585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86016" y="531266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b="1" dirty="0">
                <a:solidFill>
                  <a:srgbClr val="F7F3DF"/>
                </a:solidFill>
                <a:latin typeface="Aptos"/>
              </a:rPr>
              <a:t>Two Kicks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86016" y="5605272"/>
            <a:ext cx="4379976" cy="3383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1000" b="0" dirty="0">
                <a:solidFill>
                  <a:srgbClr val="B9C2C9"/>
                </a:solidFill>
                <a:latin typeface="Aptos"/>
              </a:rPr>
              <a:t>ADV next attack Cost: Action. Range: 1-2 ft. Roll: 1d6+4 Bludgeoning. Save: Dexterity DC 19; fail: prone.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-128016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3210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 dirty="0">
                <a:solidFill>
                  <a:srgbClr val="B9C2C9"/>
                </a:solidFill>
                <a:latin typeface="Aptos"/>
              </a:rPr>
              <a:t>Support, movement, and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264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7" name="Picture 6" descr="ppt_fit_0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63624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545335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Dash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8379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Extra movement Cost: 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264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1" name="Picture 10" descr="ppt_fit_00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63624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545335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Disengage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8379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Do not provoke opportunity attacks Cost: Action.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49631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5" name="Picture 14" descr="ppt_fit_0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633472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61518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Auto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90779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Cost: Free.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49631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19" name="Picture 18" descr="ppt_fit_00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633472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615184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Help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90779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Touch to stabilize Cost: Action. Range: 1-1 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6616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3" name="Picture 22" descr="ppt_fit_005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703320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68503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Grit Mend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7764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Bonus: Heal 1d10 +2 Cost: Bonus Action.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56616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27" name="Picture 26" descr="ppt_fit_006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3703320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68503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Field Mend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97764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Touch to Heal 2d8 + Wis [1 focus] Cost: Action. Range: 1-1 ft.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3600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1" name="Picture 30" descr="ppt_fit_004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" y="4773168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75488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Salve Vial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504748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2d4+2 Salve Vial Cost: Action.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636008"/>
            <a:ext cx="5257800" cy="1069848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5" name="Picture 34" descr="ppt_fit_003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48" y="4773168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75488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Food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504748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eats food between encounters. Vanguard regains 1 Grit Mend, Tempo Break refreshes, Ember Sage and Wayfinder regain 1 focus charge. Cost: Free.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70585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pic>
        <p:nvPicPr>
          <p:cNvPr id="39" name="Picture 38" descr="ppt_fit_003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" y="5843016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82472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1">
                <a:solidFill>
                  <a:srgbClr val="F7F3DF"/>
                </a:solidFill>
                <a:latin typeface="Aptos"/>
              </a:rPr>
              <a:t>Safe Camp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611733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 lnSpcReduction="10000"/>
          </a:bodyPr>
          <a:lstStyle/>
          <a:p>
            <a:pPr algn="l"/>
            <a:r>
              <a:rPr sz="1000" b="0">
                <a:solidFill>
                  <a:srgbClr val="B9C2C9"/>
                </a:solidFill>
                <a:latin typeface="Aptos"/>
              </a:rPr>
              <a:t>The party makes a safe camp. All resources fully restored and HP fully healed. Cost: Free.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Skill Encyclopedia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8638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400" b="0">
                <a:solidFill>
                  <a:srgbClr val="B9C2C9"/>
                </a:solidFill>
                <a:latin typeface="Aptos"/>
              </a:rPr>
              <a:t>Magic, Pharhad, Cleric Z, and special effects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6187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7" name="Picture 6" descr="ppt_fit_00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399032"/>
            <a:ext cx="585216" cy="5852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71016" y="1380743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Ember 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167335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Action. Range: 2-24 ft. Roll: 1d10 Slashing.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61872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1" name="Picture 10" descr="ppt_fit_00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399032"/>
            <a:ext cx="585216" cy="585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86016" y="1380743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Homing Sparks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6016" y="1673352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Action. Range: 1-24 ft. Roll: 3d4+3 Psychic.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5" name="Picture 14" descr="ppt_fit_00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2468880"/>
            <a:ext cx="585216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71016" y="245059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Inner Flare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274320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Bonus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2331720"/>
            <a:ext cx="5257800" cy="923544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19" name="Picture 18" descr="ppt_fit_006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2468880"/>
            <a:ext cx="585216" cy="5852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86016" y="2450592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Quarry Brand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743200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 dirty="0">
                <a:solidFill>
                  <a:srgbClr val="B9C2C9"/>
                </a:solidFill>
                <a:latin typeface="Aptos"/>
              </a:rPr>
              <a:t>Bonus Action: Mark one enemy in range. Deal +1d6 Force on every hit against them. Concentration, up to 1 hour. 2 free casts per Safe Camp. Cost: Bonus Action. Range: 2-90 ft.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0156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3" name="Picture 22" descr="ppt_fit_00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" y="3538728"/>
            <a:ext cx="585216" cy="5852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71016" y="352044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800" b="1">
                <a:solidFill>
                  <a:srgbClr val="F7F3DF"/>
                </a:solidFill>
                <a:latin typeface="Aptos"/>
              </a:rPr>
              <a:t>Love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81304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Melee touch. On contact, the target becomes your ally.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401568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27" name="Picture 26" descr="ppt_fit_006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7648" y="3538728"/>
            <a:ext cx="58521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86016" y="3520440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800" b="1">
                <a:solidFill>
                  <a:srgbClr val="F7F3DF"/>
                </a:solidFill>
                <a:latin typeface="Aptos"/>
              </a:rPr>
              <a:t>Truth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13048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Range 4 tiles, line of sight. Visible enemies in radius make Wisdom DC 19 saves; failures become allies.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47141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1" name="Picture 30" descr="ppt_fit_006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" y="4608576"/>
            <a:ext cx="585216" cy="58521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71016" y="459028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Divine Restore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71016" y="488289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Cost: Free. Range: 0-120 ft. Target: Sphere area, radius 30 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471416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5" name="Picture 34" descr="ppt_fit_003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27648" y="4608576"/>
            <a:ext cx="585216" cy="58521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86016" y="4590288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Pharhad Idol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86016" y="4882896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Stand next to the idol between encounters to bring every dead hero back to life. Cost: Free.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5412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39" name="Picture 38" descr="ppt_fit_007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2648" y="5678424"/>
            <a:ext cx="585216" cy="58521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71016" y="566013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Tempo Break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1016" y="59527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050" b="0">
                <a:solidFill>
                  <a:srgbClr val="B9C2C9"/>
                </a:solidFill>
                <a:latin typeface="Aptos"/>
              </a:rPr>
              <a:t>Free Action: Take one additional Attack action this turn. 1 per Food. Cost: Free.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541264"/>
            <a:ext cx="5257800" cy="80467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pic>
        <p:nvPicPr>
          <p:cNvPr id="43" name="Picture 42" descr="ppt_fit_007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27648" y="5678424"/>
            <a:ext cx="585216" cy="5852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986016" y="5660136"/>
            <a:ext cx="4361688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1600" b="1">
                <a:solidFill>
                  <a:srgbClr val="F7F3DF"/>
                </a:solidFill>
                <a:latin typeface="Aptos"/>
              </a:rPr>
              <a:t>Flesh Beast Bite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86016" y="5952744"/>
            <a:ext cx="4379976" cy="301751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fontScale="92500"/>
          </a:bodyPr>
          <a:lstStyle/>
          <a:p>
            <a:pPr algn="l"/>
            <a:r>
              <a:rPr sz="1000" b="0">
                <a:solidFill>
                  <a:srgbClr val="B9C2C9"/>
                </a:solidFill>
                <a:latin typeface="Aptos"/>
              </a:rPr>
              <a:t>Cost: Action. Range: 1-1 ft. Roll: 2d6 Slashing. Save: Strength DC 11; fail: prone.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Image Atlas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100" b="0">
                <a:solidFill>
                  <a:srgbClr val="B9C2C9"/>
                </a:solidFill>
                <a:latin typeface="Aptos"/>
              </a:rPr>
              <a:t>Skill icons</a:t>
            </a:r>
          </a:p>
        </p:txBody>
      </p:sp>
      <p:pic>
        <p:nvPicPr>
          <p:cNvPr id="6" name="Picture 5" descr="ppt_fit_0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02279" y="-1299566"/>
            <a:ext cx="20167958" cy="979586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1820"/>
          </a:solidFill>
          <a:ln>
            <a:solidFill>
              <a:srgbClr val="1018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55448"/>
          </a:xfrm>
          <a:prstGeom prst="rect">
            <a:avLst/>
          </a:prstGeom>
          <a:solidFill>
            <a:srgbClr val="F6C94C"/>
          </a:solidFill>
          <a:ln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237744"/>
            <a:ext cx="7863840" cy="43891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 lnSpcReduction="10000"/>
          </a:bodyPr>
          <a:lstStyle/>
          <a:p>
            <a:pPr algn="l"/>
            <a:r>
              <a:rPr sz="2700" b="1">
                <a:solidFill>
                  <a:srgbClr val="F7F3DF"/>
                </a:solidFill>
                <a:latin typeface="Aptos Display"/>
              </a:rPr>
              <a:t>Road Wisdom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694944"/>
            <a:ext cx="96012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000" b="0">
                <a:solidFill>
                  <a:srgbClr val="B9C2C9"/>
                </a:solidFill>
                <a:latin typeface="Aptos"/>
              </a:rPr>
              <a:t>A practical play guide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44752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5CC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TextBox 6"/>
          <p:cNvSpPr txBox="1"/>
          <p:nvPr/>
        </p:nvSpPr>
        <p:spPr>
          <a:xfrm>
            <a:off x="621792" y="14813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Protect action economy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883664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Use Bonus Actions before attacks: Grit Mend, Inner Flare, Quarry Brand, then hit.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44752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75E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0" name="TextBox 9"/>
          <p:cNvSpPr txBox="1"/>
          <p:nvPr/>
        </p:nvSpPr>
        <p:spPr>
          <a:xfrm>
            <a:off x="6336792" y="1481328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Do not drift apart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883664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The party survives better when healers can reach unconscious allies.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17520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F9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621792" y="3054096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Respect opportunity attacks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456432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If an enemy is adjacent, Disengage before walking away.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017520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F5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6" name="TextBox 15"/>
          <p:cNvSpPr txBox="1"/>
          <p:nvPr/>
        </p:nvSpPr>
        <p:spPr>
          <a:xfrm>
            <a:off x="6336792" y="3054096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Recover between fights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456432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Safe Camp is not just flavor; it restores the resources that win the next encounter.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90288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B6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9" name="TextBox 18"/>
          <p:cNvSpPr txBox="1"/>
          <p:nvPr/>
        </p:nvSpPr>
        <p:spPr>
          <a:xfrm>
            <a:off x="621792" y="4626864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Use the idol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029200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200" b="0">
                <a:solidFill>
                  <a:srgbClr val="B9C2C9"/>
                </a:solidFill>
                <a:latin typeface="Aptos"/>
              </a:rPr>
              <a:t>If anyone is dead, Pharhad Idol before Safe Camp.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90288"/>
            <a:ext cx="5257800" cy="1078992"/>
          </a:xfrm>
          <a:prstGeom prst="rect">
            <a:avLst/>
          </a:prstGeom>
          <a:solidFill>
            <a:srgbClr val="182231"/>
          </a:solidFill>
          <a:ln w="17780">
            <a:solidFill>
              <a:srgbClr val="F6C9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2" name="TextBox 21"/>
          <p:cNvSpPr txBox="1"/>
          <p:nvPr/>
        </p:nvSpPr>
        <p:spPr>
          <a:xfrm>
            <a:off x="6336792" y="4626864"/>
            <a:ext cx="5020056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2400" b="1">
                <a:solidFill>
                  <a:srgbClr val="F7F3DF"/>
                </a:solidFill>
                <a:latin typeface="Aptos"/>
              </a:rPr>
              <a:t>Restart from save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5029200"/>
            <a:ext cx="5020056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normAutofit/>
          </a:bodyPr>
          <a:lstStyle/>
          <a:p>
            <a:pPr algn="l"/>
            <a:r>
              <a:rPr sz="1300" b="0">
                <a:solidFill>
                  <a:srgbClr val="B9C2C9"/>
                </a:solidFill>
                <a:latin typeface="Aptos"/>
              </a:rPr>
              <a:t>After Game Over, choose Restart From Save to load the last autosave when one exists.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2071</Words>
  <Application>Microsoft Office PowerPoint</Application>
  <PresentationFormat>Widescreen</PresentationFormat>
  <Paragraphs>207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Pharhad Road Manual</dc:title>
  <dc:subject>Editable PowerPoint manual for The Pharhad Road</dc:subject>
  <dc:creator>OpenAI Codex</dc:creator>
  <cp:keywords/>
  <dc:description>generated using python-pptx</dc:description>
  <cp:lastModifiedBy>F. T.</cp:lastModifiedBy>
  <cp:revision>18</cp:revision>
  <dcterms:created xsi:type="dcterms:W3CDTF">2013-01-27T09:14:16Z</dcterms:created>
  <dcterms:modified xsi:type="dcterms:W3CDTF">2026-05-18T19:38:57Z</dcterms:modified>
  <cp:category/>
</cp:coreProperties>
</file>