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420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55448"/>
          </a:xfrm>
          <a:prstGeom prst="rect">
            <a:avLst/>
          </a:prstGeom>
          <a:solidFill>
            <a:srgbClr val="F6C94C"/>
          </a:solidFill>
          <a:ln>
            <a:solidFill>
              <a:srgbClr val="F6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37744"/>
            <a:ext cx="7863840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lnSpcReduction="10000"/>
          </a:bodyPr>
          <a:lstStyle/>
          <a:p>
            <a:pPr algn="l"/>
            <a:r>
              <a:rPr sz="2700" b="1">
                <a:solidFill>
                  <a:srgbClr val="F7F3DF"/>
                </a:solidFill>
                <a:latin typeface="Aptos Display"/>
              </a:rPr>
              <a:t>The Pharhad Road</a:t>
            </a:r>
          </a:p>
        </p:txBody>
      </p:sp>
      <p:pic>
        <p:nvPicPr>
          <p:cNvPr id="6" name="Picture 5" descr="ppt_fit_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502920"/>
            <a:ext cx="4983480" cy="280720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1234440"/>
            <a:ext cx="5593080" cy="4700016"/>
          </a:xfrm>
          <a:prstGeom prst="rect">
            <a:avLst/>
          </a:prstGeom>
          <a:solidFill>
            <a:srgbClr val="182231"/>
          </a:solidFill>
          <a:ln w="25400">
            <a:solidFill>
              <a:srgbClr val="F6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1" y="1344168"/>
            <a:ext cx="5474207" cy="451713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62500" lnSpcReduction="20000"/>
          </a:bodyPr>
          <a:lstStyle/>
          <a:p>
            <a:pPr algn="l"/>
            <a:r>
              <a:rPr lang="en-US" sz="2400" b="1" dirty="0">
                <a:solidFill>
                  <a:srgbClr val="F7F3DF"/>
                </a:solidFill>
                <a:latin typeface="Aptos"/>
              </a:rPr>
              <a:t>The </a:t>
            </a:r>
            <a:r>
              <a:rPr lang="en-US" sz="2400" b="1" dirty="0" err="1">
                <a:solidFill>
                  <a:srgbClr val="F7F3DF"/>
                </a:solidFill>
                <a:latin typeface="Aptos"/>
              </a:rPr>
              <a:t>Pharhad</a:t>
            </a:r>
            <a:r>
              <a:rPr lang="en-US" sz="2400" b="1" dirty="0">
                <a:solidFill>
                  <a:srgbClr val="F7F3DF"/>
                </a:solidFill>
                <a:latin typeface="Aptos"/>
              </a:rPr>
              <a:t> Road code and original content Copyright (c) 2023-2026 Farhad Teymurian / Teymurian Studios.</a:t>
            </a:r>
          </a:p>
          <a:p>
            <a:pPr algn="l"/>
            <a:endParaRPr lang="en-US" sz="2400" b="1" dirty="0">
              <a:solidFill>
                <a:srgbClr val="F7F3DF"/>
              </a:solidFill>
              <a:latin typeface="Aptos"/>
            </a:endParaRPr>
          </a:p>
          <a:p>
            <a:pPr algn="l"/>
            <a:r>
              <a:rPr lang="en-US" sz="2400" b="1" dirty="0">
                <a:solidFill>
                  <a:srgbClr val="F7F3DF"/>
                </a:solidFill>
                <a:latin typeface="Aptos"/>
              </a:rPr>
              <a:t>DENZI's 32x32 orthogonal </a:t>
            </a:r>
            <a:r>
              <a:rPr lang="en-US" sz="2400" b="1" dirty="0" err="1">
                <a:solidFill>
                  <a:srgbClr val="F7F3DF"/>
                </a:solidFill>
                <a:latin typeface="Aptos"/>
              </a:rPr>
              <a:t>tilesets</a:t>
            </a:r>
            <a:r>
              <a:rPr lang="en-US" sz="2400" b="1" dirty="0">
                <a:solidFill>
                  <a:srgbClr val="F7F3DF"/>
                </a:solidFill>
                <a:latin typeface="Aptos"/>
              </a:rPr>
              <a:t> by DENZI, adapted for The </a:t>
            </a:r>
            <a:r>
              <a:rPr lang="en-US" sz="2400" b="1" dirty="0" err="1">
                <a:solidFill>
                  <a:srgbClr val="F7F3DF"/>
                </a:solidFill>
                <a:latin typeface="Aptos"/>
              </a:rPr>
              <a:t>Pharhad</a:t>
            </a:r>
            <a:r>
              <a:rPr lang="en-US" sz="2400" b="1" dirty="0">
                <a:solidFill>
                  <a:srgbClr val="F7F3DF"/>
                </a:solidFill>
                <a:latin typeface="Aptos"/>
              </a:rPr>
              <a:t> Road, licensed CC BY-SA 3.0:</a:t>
            </a:r>
          </a:p>
          <a:p>
            <a:pPr algn="l"/>
            <a:endParaRPr lang="en-US" sz="2400" b="1" dirty="0">
              <a:solidFill>
                <a:srgbClr val="F7F3DF"/>
              </a:solidFill>
              <a:latin typeface="Aptos"/>
            </a:endParaRPr>
          </a:p>
          <a:p>
            <a:pPr algn="l"/>
            <a:r>
              <a:rPr lang="en-US" sz="2400" b="1" dirty="0">
                <a:solidFill>
                  <a:srgbClr val="F7F3DF"/>
                </a:solidFill>
                <a:latin typeface="Aptos"/>
              </a:rPr>
              <a:t>https://opengameart.org/content/denzis-32x32-orthogonal-tilesets</a:t>
            </a:r>
          </a:p>
          <a:p>
            <a:pPr algn="l"/>
            <a:endParaRPr lang="en-US" sz="2400" b="1" dirty="0">
              <a:solidFill>
                <a:srgbClr val="F7F3DF"/>
              </a:solidFill>
              <a:latin typeface="Aptos"/>
            </a:endParaRPr>
          </a:p>
          <a:p>
            <a:pPr algn="l"/>
            <a:r>
              <a:rPr lang="en-US" sz="2400" b="1" dirty="0">
                <a:solidFill>
                  <a:srgbClr val="F7F3DF"/>
                </a:solidFill>
                <a:latin typeface="Aptos"/>
              </a:rPr>
              <a:t>https://creativecommons.org/licenses/by-sa/3.0/</a:t>
            </a:r>
          </a:p>
          <a:p>
            <a:pPr algn="l"/>
            <a:endParaRPr lang="en-US" sz="2400" b="1" dirty="0">
              <a:solidFill>
                <a:srgbClr val="F7F3DF"/>
              </a:solidFill>
              <a:latin typeface="Aptos"/>
            </a:endParaRPr>
          </a:p>
          <a:p>
            <a:pPr algn="l"/>
            <a:r>
              <a:rPr lang="en-US" sz="2400" b="1" dirty="0">
                <a:solidFill>
                  <a:srgbClr val="F7F3DF"/>
                </a:solidFill>
                <a:latin typeface="Aptos"/>
              </a:rPr>
              <a:t>Built with Godot Engine, MIT License:</a:t>
            </a:r>
          </a:p>
          <a:p>
            <a:pPr algn="l"/>
            <a:endParaRPr lang="en-US" sz="2400" b="1" dirty="0">
              <a:solidFill>
                <a:srgbClr val="F7F3DF"/>
              </a:solidFill>
              <a:latin typeface="Aptos"/>
            </a:endParaRPr>
          </a:p>
          <a:p>
            <a:pPr algn="l"/>
            <a:r>
              <a:rPr lang="en-US" sz="2400" b="1" dirty="0">
                <a:solidFill>
                  <a:srgbClr val="F7F3DF"/>
                </a:solidFill>
                <a:latin typeface="Aptos"/>
              </a:rPr>
              <a:t>https://godotengine.org/license/</a:t>
            </a:r>
          </a:p>
          <a:p>
            <a:pPr algn="l"/>
            <a:endParaRPr lang="en-US" sz="2400" b="1" dirty="0">
              <a:solidFill>
                <a:srgbClr val="F7F3DF"/>
              </a:solidFill>
              <a:latin typeface="Aptos"/>
            </a:endParaRPr>
          </a:p>
          <a:p>
            <a:pPr algn="l"/>
            <a:r>
              <a:rPr lang="en-US" sz="2400" b="1" dirty="0">
                <a:solidFill>
                  <a:srgbClr val="F7F3DF"/>
                </a:solidFill>
                <a:latin typeface="Aptos"/>
              </a:rPr>
              <a:t>Sound effects from </a:t>
            </a:r>
            <a:r>
              <a:rPr lang="en-US" sz="2400" b="1" dirty="0" err="1">
                <a:solidFill>
                  <a:srgbClr val="F7F3DF"/>
                </a:solidFill>
                <a:latin typeface="Aptos"/>
              </a:rPr>
              <a:t>Mixkit</a:t>
            </a:r>
            <a:r>
              <a:rPr lang="en-US" sz="2400" b="1" dirty="0">
                <a:solidFill>
                  <a:srgbClr val="F7F3DF"/>
                </a:solidFill>
                <a:latin typeface="Aptos"/>
              </a:rPr>
              <a:t>:</a:t>
            </a:r>
          </a:p>
          <a:p>
            <a:pPr algn="l"/>
            <a:endParaRPr lang="en-US" sz="2400" b="1" dirty="0">
              <a:solidFill>
                <a:srgbClr val="F7F3DF"/>
              </a:solidFill>
              <a:latin typeface="Aptos"/>
            </a:endParaRPr>
          </a:p>
          <a:p>
            <a:pPr algn="l"/>
            <a:r>
              <a:rPr lang="en-US" sz="2400" b="1" dirty="0">
                <a:solidFill>
                  <a:srgbClr val="F7F3DF"/>
                </a:solidFill>
                <a:latin typeface="Aptos"/>
              </a:rPr>
              <a:t>https://mixkit.co/free-sound-effects/</a:t>
            </a:r>
          </a:p>
          <a:p>
            <a:pPr algn="l"/>
            <a:endParaRPr lang="en-US" sz="2400" b="1" dirty="0">
              <a:solidFill>
                <a:srgbClr val="F7F3DF"/>
              </a:solidFill>
              <a:latin typeface="Aptos"/>
            </a:endParaRPr>
          </a:p>
          <a:p>
            <a:pPr algn="l"/>
            <a:r>
              <a:rPr lang="en-US" sz="2400" b="1" dirty="0">
                <a:solidFill>
                  <a:srgbClr val="F7F3DF"/>
                </a:solidFill>
                <a:latin typeface="Aptos"/>
              </a:rPr>
              <a:t>Music: "Mystical Fight Cinematic Music" by </a:t>
            </a:r>
            <a:r>
              <a:rPr lang="en-US" sz="2400" b="1" dirty="0" err="1">
                <a:solidFill>
                  <a:srgbClr val="F7F3DF"/>
                </a:solidFill>
                <a:latin typeface="Aptos"/>
              </a:rPr>
              <a:t>AdelinaAdel</a:t>
            </a:r>
            <a:r>
              <a:rPr lang="en-US" sz="2400" b="1" dirty="0">
                <a:solidFill>
                  <a:srgbClr val="F7F3DF"/>
                </a:solidFill>
                <a:latin typeface="Aptos"/>
              </a:rPr>
              <a:t> via </a:t>
            </a:r>
            <a:r>
              <a:rPr lang="en-US" sz="2400" b="1" dirty="0" err="1">
                <a:solidFill>
                  <a:srgbClr val="F7F3DF"/>
                </a:solidFill>
                <a:latin typeface="Aptos"/>
              </a:rPr>
              <a:t>Pixabay</a:t>
            </a:r>
            <a:r>
              <a:rPr lang="en-US" sz="2400" b="1" dirty="0">
                <a:solidFill>
                  <a:srgbClr val="F7F3DF"/>
                </a:solidFill>
                <a:latin typeface="Aptos"/>
              </a:rPr>
              <a:t>, </a:t>
            </a:r>
            <a:r>
              <a:rPr lang="en-US" sz="2400" b="1" dirty="0" err="1">
                <a:solidFill>
                  <a:srgbClr val="F7F3DF"/>
                </a:solidFill>
                <a:latin typeface="Aptos"/>
              </a:rPr>
              <a:t>Pixabay</a:t>
            </a:r>
            <a:r>
              <a:rPr lang="en-US" sz="2400" b="1" dirty="0">
                <a:solidFill>
                  <a:srgbClr val="F7F3DF"/>
                </a:solidFill>
                <a:latin typeface="Aptos"/>
              </a:rPr>
              <a:t> Content License:</a:t>
            </a:r>
          </a:p>
          <a:p>
            <a:pPr algn="l"/>
            <a:endParaRPr lang="en-US" sz="2400" b="1" dirty="0">
              <a:solidFill>
                <a:srgbClr val="F7F3DF"/>
              </a:solidFill>
              <a:latin typeface="Aptos"/>
            </a:endParaRPr>
          </a:p>
          <a:p>
            <a:pPr algn="l"/>
            <a:r>
              <a:rPr lang="en-US" sz="2400" b="1" dirty="0">
                <a:solidFill>
                  <a:srgbClr val="F7F3DF"/>
                </a:solidFill>
                <a:latin typeface="Aptos"/>
              </a:rPr>
              <a:t>https://pixabay.com/music/main-title-mystical-fight-cinematic-music-281174/</a:t>
            </a:r>
            <a:endParaRPr sz="2400" b="1" dirty="0">
              <a:solidFill>
                <a:srgbClr val="F7F3DF"/>
              </a:solidFill>
              <a:latin typeface="Apto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32C2C54-4E3A-A180-D626-378791C0A3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416" y="488773"/>
            <a:ext cx="5487166" cy="308653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55448"/>
          </a:xfrm>
          <a:prstGeom prst="rect">
            <a:avLst/>
          </a:prstGeom>
          <a:solidFill>
            <a:srgbClr val="F6C94C"/>
          </a:solidFill>
          <a:ln>
            <a:solidFill>
              <a:srgbClr val="F6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37744"/>
            <a:ext cx="7863840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lnSpcReduction="10000"/>
          </a:bodyPr>
          <a:lstStyle/>
          <a:p>
            <a:pPr algn="l"/>
            <a:r>
              <a:rPr sz="2700" b="1" dirty="0">
                <a:solidFill>
                  <a:srgbClr val="F7F3DF"/>
                </a:solidFill>
                <a:latin typeface="Aptos Display"/>
              </a:rPr>
              <a:t>Quick 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94944"/>
            <a:ext cx="96012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/>
            <a:r>
              <a:rPr sz="2400" b="0">
                <a:solidFill>
                  <a:srgbClr val="B9C2C9"/>
                </a:solidFill>
                <a:latin typeface="Aptos"/>
              </a:rPr>
              <a:t>The short path from menu to road victory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43000"/>
            <a:ext cx="5257800" cy="1600200"/>
          </a:xfrm>
          <a:prstGeom prst="rect">
            <a:avLst/>
          </a:prstGeom>
          <a:solidFill>
            <a:srgbClr val="182231"/>
          </a:solidFill>
          <a:ln w="17780">
            <a:solidFill>
              <a:srgbClr val="5C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7" name="TextBox 6"/>
          <p:cNvSpPr txBox="1"/>
          <p:nvPr/>
        </p:nvSpPr>
        <p:spPr>
          <a:xfrm>
            <a:off x="621792" y="1252728"/>
            <a:ext cx="5020056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/>
            <a:r>
              <a:rPr sz="2800" b="1">
                <a:solidFill>
                  <a:srgbClr val="F7F3DF"/>
                </a:solidFill>
                <a:latin typeface="Aptos"/>
              </a:rPr>
              <a:t>1. Pick a mode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719072"/>
            <a:ext cx="5020056" cy="9326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b="0" dirty="0">
                <a:solidFill>
                  <a:srgbClr val="B9C2C9"/>
                </a:solidFill>
                <a:latin typeface="Aptos"/>
              </a:rPr>
              <a:t>Every mode now goes to a second screen. Choose the road, read the mode text, then press Start Game.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143000"/>
            <a:ext cx="5257800" cy="1600200"/>
          </a:xfrm>
          <a:prstGeom prst="rect">
            <a:avLst/>
          </a:prstGeom>
          <a:solidFill>
            <a:srgbClr val="182231"/>
          </a:solidFill>
          <a:ln w="17780">
            <a:solidFill>
              <a:srgbClr val="75E3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10" name="TextBox 9"/>
          <p:cNvSpPr txBox="1"/>
          <p:nvPr/>
        </p:nvSpPr>
        <p:spPr>
          <a:xfrm>
            <a:off x="6336792" y="1252728"/>
            <a:ext cx="5020056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/>
            <a:r>
              <a:rPr sz="2800" b="1">
                <a:solidFill>
                  <a:srgbClr val="F7F3DF"/>
                </a:solidFill>
                <a:latin typeface="Aptos"/>
              </a:rPr>
              <a:t>2. Take turns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6792" y="1796902"/>
            <a:ext cx="5020056" cy="85485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/>
            <a:r>
              <a:rPr b="0">
                <a:solidFill>
                  <a:srgbClr val="B9C2C9"/>
                </a:solidFill>
                <a:latin typeface="Aptos"/>
              </a:rPr>
              <a:t>On your turn, select a skill, pick a legal target, move, or end turn. The game log shows the player hint when you control that turn.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291840"/>
            <a:ext cx="5257800" cy="1600200"/>
          </a:xfrm>
          <a:prstGeom prst="rect">
            <a:avLst/>
          </a:prstGeom>
          <a:solidFill>
            <a:srgbClr val="182231"/>
          </a:solidFill>
          <a:ln w="17780">
            <a:solidFill>
              <a:srgbClr val="FF9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13" name="TextBox 12"/>
          <p:cNvSpPr txBox="1"/>
          <p:nvPr/>
        </p:nvSpPr>
        <p:spPr>
          <a:xfrm>
            <a:off x="621792" y="3401568"/>
            <a:ext cx="5020056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/>
            <a:r>
              <a:rPr sz="2800" b="1">
                <a:solidFill>
                  <a:srgbClr val="F7F3DF"/>
                </a:solidFill>
                <a:latin typeface="Aptos"/>
              </a:rPr>
              <a:t>3. Clear encounters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3849624"/>
            <a:ext cx="5020056" cy="95097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b="0" dirty="0">
                <a:solidFill>
                  <a:srgbClr val="B9C2C9"/>
                </a:solidFill>
                <a:latin typeface="Aptos"/>
              </a:rPr>
              <a:t>After each encounter, recover before walking into the next group.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291840"/>
            <a:ext cx="5257800" cy="1600200"/>
          </a:xfrm>
          <a:prstGeom prst="rect">
            <a:avLst/>
          </a:prstGeom>
          <a:solidFill>
            <a:srgbClr val="182231"/>
          </a:solidFill>
          <a:ln w="17780">
            <a:solidFill>
              <a:srgbClr val="F6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16" name="TextBox 15"/>
          <p:cNvSpPr txBox="1"/>
          <p:nvPr/>
        </p:nvSpPr>
        <p:spPr>
          <a:xfrm>
            <a:off x="6336792" y="3401568"/>
            <a:ext cx="5020056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/>
            <a:r>
              <a:rPr sz="2800" b="1">
                <a:solidFill>
                  <a:srgbClr val="F7F3DF"/>
                </a:solidFill>
                <a:latin typeface="Aptos"/>
              </a:rPr>
              <a:t>4. Finish the roads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2" y="4008474"/>
            <a:ext cx="5020056" cy="79212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300" b="0">
                <a:solidFill>
                  <a:srgbClr val="B9C2C9"/>
                </a:solidFill>
                <a:latin typeface="Aptos"/>
              </a:rPr>
              <a:t>Road 1 leads to Road 2, then Road 3, then Road 4 when the heroes survive. If Game Over appears and a save exists, choose Restart From Save to resume the last autosave.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623560"/>
            <a:ext cx="10744200" cy="804672"/>
          </a:xfrm>
          <a:prstGeom prst="rect">
            <a:avLst/>
          </a:prstGeom>
          <a:solidFill>
            <a:srgbClr val="05070A"/>
          </a:solidFill>
          <a:ln w="16510">
            <a:solidFill>
              <a:srgbClr val="F6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9" name="TextBox 18"/>
          <p:cNvSpPr txBox="1"/>
          <p:nvPr/>
        </p:nvSpPr>
        <p:spPr>
          <a:xfrm>
            <a:off x="960120" y="5797296"/>
            <a:ext cx="102870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/>
            <a:r>
              <a:rPr sz="1700" b="1" dirty="0">
                <a:solidFill>
                  <a:srgbClr val="F7F3DF"/>
                </a:solidFill>
                <a:latin typeface="Aptos"/>
              </a:rPr>
              <a:t>Autosave loop: finish an encounter -&gt; recover -&gt; autosave -&gt; restart from that save after Game Over if needed.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-1"/>
            <a:ext cx="12191999" cy="6858000"/>
          </a:xfrm>
          <a:prstGeom prst="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55448"/>
          </a:xfrm>
          <a:prstGeom prst="rect">
            <a:avLst/>
          </a:prstGeom>
          <a:solidFill>
            <a:srgbClr val="F6C94C"/>
          </a:solidFill>
          <a:ln>
            <a:solidFill>
              <a:srgbClr val="F6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37744"/>
            <a:ext cx="7863840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lnSpcReduction="10000"/>
          </a:bodyPr>
          <a:lstStyle/>
          <a:p>
            <a:pPr algn="l"/>
            <a:r>
              <a:rPr sz="2700" b="1">
                <a:solidFill>
                  <a:srgbClr val="F7F3DF"/>
                </a:solidFill>
                <a:latin typeface="Aptos Display"/>
              </a:rPr>
              <a:t>Controls And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743104"/>
            <a:ext cx="96012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/>
            <a:r>
              <a:rPr sz="2800" b="0" dirty="0">
                <a:solidFill>
                  <a:srgbClr val="B9C2C9"/>
                </a:solidFill>
                <a:latin typeface="Aptos"/>
              </a:rPr>
              <a:t>Where to look during play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26890"/>
            <a:ext cx="3566160" cy="2002109"/>
          </a:xfrm>
          <a:prstGeom prst="rect">
            <a:avLst/>
          </a:prstGeom>
          <a:solidFill>
            <a:srgbClr val="182231"/>
          </a:solidFill>
          <a:ln w="17780">
            <a:solidFill>
              <a:srgbClr val="5C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/>
          </a:p>
        </p:txBody>
      </p:sp>
      <p:sp>
        <p:nvSpPr>
          <p:cNvPr id="7" name="TextBox 6"/>
          <p:cNvSpPr txBox="1"/>
          <p:nvPr/>
        </p:nvSpPr>
        <p:spPr>
          <a:xfrm>
            <a:off x="621792" y="1536618"/>
            <a:ext cx="3328415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/>
            <a:r>
              <a:rPr sz="3200" b="1">
                <a:solidFill>
                  <a:srgbClr val="F7F3DF"/>
                </a:solidFill>
                <a:latin typeface="Aptos"/>
              </a:rPr>
              <a:t>Turn Queue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089094"/>
            <a:ext cx="3328415" cy="6949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l"/>
            <a:r>
              <a:rPr sz="1300" b="0" dirty="0">
                <a:solidFill>
                  <a:srgbClr val="B9C2C9"/>
                </a:solidFill>
                <a:latin typeface="Aptos"/>
              </a:rPr>
              <a:t>Top row shows who acts next. The active icon has the large glowing box. Chess uses blue player markers and red enemy markers;  allies glow green.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15968" y="1426890"/>
            <a:ext cx="3566160" cy="2002109"/>
          </a:xfrm>
          <a:prstGeom prst="rect">
            <a:avLst/>
          </a:prstGeom>
          <a:solidFill>
            <a:srgbClr val="182231"/>
          </a:solidFill>
          <a:ln w="17780">
            <a:solidFill>
              <a:srgbClr val="75E3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/>
          </a:p>
        </p:txBody>
      </p:sp>
      <p:sp>
        <p:nvSpPr>
          <p:cNvPr id="10" name="TextBox 9"/>
          <p:cNvSpPr txBox="1"/>
          <p:nvPr/>
        </p:nvSpPr>
        <p:spPr>
          <a:xfrm>
            <a:off x="4434840" y="1536618"/>
            <a:ext cx="3328415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/>
            <a:r>
              <a:rPr sz="3200" b="1">
                <a:solidFill>
                  <a:srgbClr val="F7F3DF"/>
                </a:solidFill>
                <a:latin typeface="Aptos"/>
              </a:rPr>
              <a:t>Game Log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089094"/>
            <a:ext cx="3328415" cy="6949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/>
            <a:r>
              <a:rPr sz="1600" b="0">
                <a:solidFill>
                  <a:srgbClr val="B9C2C9"/>
                </a:solidFill>
                <a:latin typeface="Aptos"/>
              </a:rPr>
              <a:t>Skill selections write full explanations here, including cost, range, dice, saves, and special effects.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19872" y="1426890"/>
            <a:ext cx="3566160" cy="2002109"/>
          </a:xfrm>
          <a:prstGeom prst="rect">
            <a:avLst/>
          </a:prstGeom>
          <a:solidFill>
            <a:srgbClr val="182231"/>
          </a:solidFill>
          <a:ln w="17780">
            <a:solidFill>
              <a:srgbClr val="F6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/>
          </a:p>
        </p:txBody>
      </p:sp>
      <p:sp>
        <p:nvSpPr>
          <p:cNvPr id="13" name="TextBox 12"/>
          <p:cNvSpPr txBox="1"/>
          <p:nvPr/>
        </p:nvSpPr>
        <p:spPr>
          <a:xfrm>
            <a:off x="8238744" y="1536618"/>
            <a:ext cx="3328415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/>
            <a:r>
              <a:rPr sz="3200" b="1">
                <a:solidFill>
                  <a:srgbClr val="F7F3DF"/>
                </a:solidFill>
                <a:latin typeface="Aptos"/>
              </a:rPr>
              <a:t>Stats Popup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8744" y="2089094"/>
            <a:ext cx="3328415" cy="6949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/>
            <a:r>
              <a:rPr sz="1600" b="0">
                <a:solidFill>
                  <a:srgbClr val="B9C2C9"/>
                </a:solidFill>
                <a:latin typeface="Aptos"/>
              </a:rPr>
              <a:t>Click or tap icons to inspect units, items, and map features. The popup opens at the top-left with a darker background.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785202"/>
            <a:ext cx="3566160" cy="1775626"/>
          </a:xfrm>
          <a:prstGeom prst="rect">
            <a:avLst/>
          </a:prstGeom>
          <a:solidFill>
            <a:srgbClr val="182231"/>
          </a:solidFill>
          <a:ln w="17780">
            <a:solidFill>
              <a:srgbClr val="FF9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/>
          </a:p>
        </p:txBody>
      </p:sp>
      <p:sp>
        <p:nvSpPr>
          <p:cNvPr id="16" name="TextBox 15"/>
          <p:cNvSpPr txBox="1"/>
          <p:nvPr/>
        </p:nvSpPr>
        <p:spPr>
          <a:xfrm>
            <a:off x="621792" y="3894930"/>
            <a:ext cx="3328415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/>
            <a:r>
              <a:rPr sz="3200" b="1">
                <a:solidFill>
                  <a:srgbClr val="F7F3DF"/>
                </a:solidFill>
                <a:latin typeface="Aptos"/>
              </a:rPr>
              <a:t>Target Highlights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4511202"/>
            <a:ext cx="3328415" cy="6949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l"/>
            <a:r>
              <a:rPr sz="1300" b="0" dirty="0">
                <a:solidFill>
                  <a:srgbClr val="B9C2C9"/>
                </a:solidFill>
                <a:latin typeface="Aptos"/>
              </a:rPr>
              <a:t>During player-controlled turns, legal enemy targets are highlighted orange. Converted allies stay visually separate from monsters with green glow markers.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15968" y="3785202"/>
            <a:ext cx="3566160" cy="1775626"/>
          </a:xfrm>
          <a:prstGeom prst="rect">
            <a:avLst/>
          </a:prstGeom>
          <a:solidFill>
            <a:srgbClr val="182231"/>
          </a:solidFill>
          <a:ln w="17780">
            <a:solidFill>
              <a:srgbClr val="B6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/>
          </a:p>
        </p:txBody>
      </p:sp>
      <p:sp>
        <p:nvSpPr>
          <p:cNvPr id="19" name="TextBox 18"/>
          <p:cNvSpPr txBox="1"/>
          <p:nvPr/>
        </p:nvSpPr>
        <p:spPr>
          <a:xfrm>
            <a:off x="4434840" y="3894930"/>
            <a:ext cx="3328415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/>
            <a:r>
              <a:rPr sz="3200" b="1">
                <a:solidFill>
                  <a:srgbClr val="F7F3DF"/>
                </a:solidFill>
                <a:latin typeface="Aptos"/>
              </a:rPr>
              <a:t>Fog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4511202"/>
            <a:ext cx="3328415" cy="6949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300" b="0" dirty="0">
                <a:solidFill>
                  <a:srgbClr val="B9C2C9"/>
                </a:solidFill>
                <a:latin typeface="Aptos"/>
              </a:rPr>
              <a:t>Fog can be toggled from the menu.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19872" y="3785202"/>
            <a:ext cx="3566160" cy="1775626"/>
          </a:xfrm>
          <a:prstGeom prst="rect">
            <a:avLst/>
          </a:prstGeom>
          <a:solidFill>
            <a:srgbClr val="182231"/>
          </a:solidFill>
          <a:ln w="17780">
            <a:solidFill>
              <a:srgbClr val="FF5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/>
          </a:p>
        </p:txBody>
      </p:sp>
      <p:sp>
        <p:nvSpPr>
          <p:cNvPr id="22" name="TextBox 21"/>
          <p:cNvSpPr txBox="1"/>
          <p:nvPr/>
        </p:nvSpPr>
        <p:spPr>
          <a:xfrm>
            <a:off x="8238744" y="3894930"/>
            <a:ext cx="3328415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/>
            <a:r>
              <a:rPr sz="3200" b="1">
                <a:solidFill>
                  <a:srgbClr val="F7F3DF"/>
                </a:solidFill>
                <a:latin typeface="Aptos"/>
              </a:rPr>
              <a:t>Menu Pause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511202"/>
            <a:ext cx="3328415" cy="6949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10000"/>
          </a:bodyPr>
          <a:lstStyle/>
          <a:p>
            <a:pPr algn="l"/>
            <a:r>
              <a:rPr sz="1600" b="0">
                <a:solidFill>
                  <a:srgbClr val="B9C2C9"/>
                </a:solidFill>
                <a:latin typeface="Aptos"/>
              </a:rPr>
              <a:t>Opening the game menu pauses game activity and blocks status icon clicks while music keeps playing.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55448"/>
          </a:xfrm>
          <a:prstGeom prst="rect">
            <a:avLst/>
          </a:prstGeom>
          <a:solidFill>
            <a:srgbClr val="F6C94C"/>
          </a:solidFill>
          <a:ln>
            <a:solidFill>
              <a:srgbClr val="F6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" name="TextBox 3"/>
          <p:cNvSpPr txBox="1"/>
          <p:nvPr/>
        </p:nvSpPr>
        <p:spPr>
          <a:xfrm>
            <a:off x="411480" y="237744"/>
            <a:ext cx="7863840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/>
            <a:r>
              <a:rPr sz="3600" b="1">
                <a:solidFill>
                  <a:srgbClr val="F7F3DF"/>
                </a:solidFill>
                <a:latin typeface="Aptos Display"/>
              </a:rPr>
              <a:t>11s Mode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992660"/>
            <a:ext cx="96012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/>
            <a:r>
              <a:rPr sz="2400" b="0" dirty="0">
                <a:solidFill>
                  <a:srgbClr val="B9C2C9"/>
                </a:solidFill>
                <a:latin typeface="Aptos"/>
              </a:rPr>
              <a:t>Fast turns with sound cues and a visible clock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800737"/>
            <a:ext cx="2971800" cy="3504910"/>
          </a:xfrm>
          <a:prstGeom prst="rect">
            <a:avLst/>
          </a:prstGeom>
          <a:solidFill>
            <a:srgbClr val="FF5C57"/>
          </a:solidFill>
          <a:ln w="25400">
            <a:solidFill>
              <a:srgbClr val="0507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" name="TextBox 6"/>
          <p:cNvSpPr txBox="1"/>
          <p:nvPr/>
        </p:nvSpPr>
        <p:spPr>
          <a:xfrm>
            <a:off x="1234440" y="1855600"/>
            <a:ext cx="1828800" cy="1033273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/>
            <a:r>
              <a:rPr sz="6000" b="1" dirty="0">
                <a:solidFill>
                  <a:srgbClr val="F7F3DF"/>
                </a:solidFill>
                <a:latin typeface="Aptos Display"/>
              </a:rPr>
              <a:t>11s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254632"/>
            <a:ext cx="2523744" cy="1932789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/>
            <a:r>
              <a:rPr b="1" dirty="0">
                <a:solidFill>
                  <a:srgbClr val="F7F3DF"/>
                </a:solidFill>
                <a:latin typeface="Aptos"/>
              </a:rPr>
              <a:t>When enabled, the player has 11 seconds to choose a turn. The last 3 seconds play the button sound, and the timer hitting 0 plays the turn-advance cue.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069080" y="1745873"/>
            <a:ext cx="3429000" cy="1234440"/>
          </a:xfrm>
          <a:prstGeom prst="rect">
            <a:avLst/>
          </a:prstGeom>
          <a:solidFill>
            <a:srgbClr val="182231"/>
          </a:solidFill>
          <a:ln w="17780">
            <a:solidFill>
              <a:srgbClr val="75E3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10" name="TextBox 9"/>
          <p:cNvSpPr txBox="1"/>
          <p:nvPr/>
        </p:nvSpPr>
        <p:spPr>
          <a:xfrm>
            <a:off x="4187952" y="1770536"/>
            <a:ext cx="3191256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/>
            <a:r>
              <a:rPr sz="2800" b="1" dirty="0">
                <a:solidFill>
                  <a:srgbClr val="F7F3DF"/>
                </a:solidFill>
                <a:latin typeface="Aptos"/>
              </a:rPr>
              <a:t>Actions finish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87952" y="2237950"/>
            <a:ext cx="3191256" cy="7040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/>
            <a:r>
              <a:rPr sz="1400" b="0" dirty="0">
                <a:solidFill>
                  <a:srgbClr val="B9C2C9"/>
                </a:solidFill>
                <a:latin typeface="Aptos"/>
              </a:rPr>
              <a:t>The timer advances the turn after the time limit, but it still lets actions already started finish cleanly.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1745873"/>
            <a:ext cx="3429000" cy="1234440"/>
          </a:xfrm>
          <a:prstGeom prst="rect">
            <a:avLst/>
          </a:prstGeom>
          <a:solidFill>
            <a:srgbClr val="182231"/>
          </a:solidFill>
          <a:ln w="17780">
            <a:solidFill>
              <a:srgbClr val="F6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13" name="TextBox 12"/>
          <p:cNvSpPr txBox="1"/>
          <p:nvPr/>
        </p:nvSpPr>
        <p:spPr>
          <a:xfrm>
            <a:off x="7936992" y="1770536"/>
            <a:ext cx="3191256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/>
            <a:r>
              <a:rPr sz="2800" b="1" dirty="0">
                <a:solidFill>
                  <a:srgbClr val="F7F3DF"/>
                </a:solidFill>
                <a:latin typeface="Aptos"/>
              </a:rPr>
              <a:t>Tutorial lockout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992" y="2237950"/>
            <a:ext cx="3191256" cy="7040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/>
            <a:r>
              <a:rPr sz="1400" b="0">
                <a:solidFill>
                  <a:srgbClr val="B9C2C9"/>
                </a:solidFill>
                <a:latin typeface="Aptos"/>
              </a:rPr>
              <a:t>Tutorial disables 11s mode so new players can read, inspect, and learn without pressure.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69080" y="3483233"/>
            <a:ext cx="3429000" cy="1234440"/>
          </a:xfrm>
          <a:prstGeom prst="rect">
            <a:avLst/>
          </a:prstGeom>
          <a:solidFill>
            <a:srgbClr val="182231"/>
          </a:solidFill>
          <a:ln w="17780">
            <a:solidFill>
              <a:srgbClr val="5C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16" name="TextBox 15"/>
          <p:cNvSpPr txBox="1"/>
          <p:nvPr/>
        </p:nvSpPr>
        <p:spPr>
          <a:xfrm>
            <a:off x="4187952" y="3497264"/>
            <a:ext cx="3191256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/>
            <a:r>
              <a:rPr sz="2800" b="1" dirty="0">
                <a:solidFill>
                  <a:srgbClr val="F7F3DF"/>
                </a:solidFill>
                <a:latin typeface="Aptos"/>
              </a:rPr>
              <a:t>Clock location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87952" y="3975310"/>
            <a:ext cx="3191256" cy="7040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/>
            <a:r>
              <a:rPr sz="1400" b="0" dirty="0">
                <a:solidFill>
                  <a:srgbClr val="B9C2C9"/>
                </a:solidFill>
                <a:latin typeface="Aptos"/>
              </a:rPr>
              <a:t>The clock-like timer sits under the player turn queue icon so it is visible without covering the board.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18120" y="3483232"/>
            <a:ext cx="3429000" cy="1427095"/>
          </a:xfrm>
          <a:prstGeom prst="rect">
            <a:avLst/>
          </a:prstGeom>
          <a:solidFill>
            <a:srgbClr val="182231"/>
          </a:solidFill>
          <a:ln w="17780">
            <a:solidFill>
              <a:srgbClr val="FF9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19" name="TextBox 18"/>
          <p:cNvSpPr txBox="1"/>
          <p:nvPr/>
        </p:nvSpPr>
        <p:spPr>
          <a:xfrm>
            <a:off x="7936992" y="3497264"/>
            <a:ext cx="3191256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/>
            <a:r>
              <a:rPr sz="2800" b="1" dirty="0">
                <a:solidFill>
                  <a:srgbClr val="F7F3DF"/>
                </a:solidFill>
                <a:latin typeface="Aptos"/>
              </a:rPr>
              <a:t>Menu colors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6992" y="3975310"/>
            <a:ext cx="3191256" cy="7040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400" b="0" dirty="0">
                <a:solidFill>
                  <a:srgbClr val="B9C2C9"/>
                </a:solidFill>
                <a:latin typeface="Aptos"/>
              </a:rPr>
              <a:t>11s turns red when active. When it is off, the button has no special color so it reads like a normal inactive menu option.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636109"/>
            <a:ext cx="10287000" cy="89228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/>
            <a:r>
              <a:rPr sz="2400" b="1" dirty="0">
                <a:solidFill>
                  <a:srgbClr val="F6C94C"/>
                </a:solidFill>
                <a:latin typeface="Aptos"/>
              </a:rPr>
              <a:t>Use 11s after you already know the icons. It turns the game into a quick-read tactics drill.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566</Words>
  <Application>Microsoft Office PowerPoint</Application>
  <PresentationFormat>Widescreen</PresentationFormat>
  <Paragraphs>58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Pharhad Road Manual</dc:title>
  <dc:subject>Editable PowerPoint manual for The Pharhad Road</dc:subject>
  <dc:creator>OpenAI Codex</dc:creator>
  <cp:keywords/>
  <dc:description>generated using python-pptx</dc:description>
  <cp:lastModifiedBy>F. T.</cp:lastModifiedBy>
  <cp:revision>20</cp:revision>
  <dcterms:created xsi:type="dcterms:W3CDTF">2013-01-27T09:14:16Z</dcterms:created>
  <dcterms:modified xsi:type="dcterms:W3CDTF">2026-05-20T07:33:25Z</dcterms:modified>
  <cp:category/>
</cp:coreProperties>
</file>