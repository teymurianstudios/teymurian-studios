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9" r:id="rId11"/>
    <p:sldId id="270" r:id="rId12"/>
    <p:sldId id="271" r:id="rId13"/>
    <p:sldId id="275" r:id="rId14"/>
    <p:sldId id="277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420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10" Type="http://schemas.openxmlformats.org/officeDocument/2006/relationships/image" Target="../media/image38.png"/><Relationship Id="rId4" Type="http://schemas.openxmlformats.org/officeDocument/2006/relationships/image" Target="../media/image33.png"/><Relationship Id="rId9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10" Type="http://schemas.openxmlformats.org/officeDocument/2006/relationships/image" Target="../media/image28.png"/><Relationship Id="rId4" Type="http://schemas.openxmlformats.org/officeDocument/2006/relationships/image" Target="../media/image41.png"/><Relationship Id="rId9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11" Type="http://schemas.openxmlformats.org/officeDocument/2006/relationships/image" Target="../media/image52.png"/><Relationship Id="rId5" Type="http://schemas.openxmlformats.org/officeDocument/2006/relationships/image" Target="../media/image48.png"/><Relationship Id="rId10" Type="http://schemas.openxmlformats.org/officeDocument/2006/relationships/image" Target="../media/image51.png"/><Relationship Id="rId4" Type="http://schemas.openxmlformats.org/officeDocument/2006/relationships/image" Target="../media/image47.png"/><Relationship Id="rId9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01820"/>
          </a:solidFill>
          <a:ln>
            <a:solidFill>
              <a:srgbClr val="101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55448"/>
          </a:xfrm>
          <a:prstGeom prst="rect">
            <a:avLst/>
          </a:prstGeom>
          <a:solidFill>
            <a:srgbClr val="F6C94C"/>
          </a:solidFill>
          <a:ln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237744"/>
            <a:ext cx="7863840" cy="43891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lnSpcReduction="10000"/>
          </a:bodyPr>
          <a:lstStyle/>
          <a:p>
            <a:pPr algn="l"/>
            <a:r>
              <a:rPr sz="2700" b="1">
                <a:solidFill>
                  <a:srgbClr val="F7F3DF"/>
                </a:solidFill>
                <a:latin typeface="Aptos Display"/>
              </a:rPr>
              <a:t>The Pharhad Road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94944"/>
            <a:ext cx="9601200" cy="43891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2400" b="0" dirty="0">
                <a:solidFill>
                  <a:srgbClr val="B9C2C9"/>
                </a:solidFill>
                <a:latin typeface="Aptos"/>
              </a:rPr>
              <a:t>Color manual and player reference</a:t>
            </a:r>
          </a:p>
        </p:txBody>
      </p:sp>
      <p:pic>
        <p:nvPicPr>
          <p:cNvPr id="6" name="Picture 5" descr="ppt_fit_0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502920"/>
            <a:ext cx="4983480" cy="280720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234440"/>
            <a:ext cx="5593080" cy="4700016"/>
          </a:xfrm>
          <a:prstGeom prst="rect">
            <a:avLst/>
          </a:prstGeom>
          <a:solidFill>
            <a:srgbClr val="182231"/>
          </a:solidFill>
          <a:ln w="25400"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609344"/>
            <a:ext cx="5074920" cy="2596896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2400" b="1" dirty="0">
                <a:solidFill>
                  <a:srgbClr val="F7F3DF"/>
                </a:solidFill>
                <a:latin typeface="Aptos"/>
              </a:rPr>
              <a:t>A road-by-road tactics game about keeping the heroes alive, waking the right fights, and using </a:t>
            </a:r>
            <a:r>
              <a:rPr sz="2400" b="1" dirty="0" err="1">
                <a:solidFill>
                  <a:srgbClr val="F7F3DF"/>
                </a:solidFill>
                <a:latin typeface="Aptos"/>
              </a:rPr>
              <a:t>Pharhad's</a:t>
            </a:r>
            <a:r>
              <a:rPr sz="2400" b="1" dirty="0">
                <a:solidFill>
                  <a:srgbClr val="F7F3DF"/>
                </a:solidFill>
                <a:latin typeface="Aptos"/>
              </a:rPr>
              <a:t> shrine and camp before the next clash.</a:t>
            </a:r>
          </a:p>
        </p:txBody>
      </p:sp>
      <p:pic>
        <p:nvPicPr>
          <p:cNvPr id="10" name="Picture 9" descr="ppt_fit_0002.png"/>
          <p:cNvPicPr>
            <a:picLocks noChangeAspect="1"/>
          </p:cNvPicPr>
          <p:nvPr/>
        </p:nvPicPr>
        <p:blipFill>
          <a:blip r:embed="rId3"/>
          <a:srcRect l="1078" t="16698" r="21750" b="57272"/>
          <a:stretch>
            <a:fillRect/>
          </a:stretch>
        </p:blipFill>
        <p:spPr>
          <a:xfrm>
            <a:off x="1582934" y="6256887"/>
            <a:ext cx="8538451" cy="40462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32C2C54-4E3A-A180-D626-378791C0A3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416" y="488773"/>
            <a:ext cx="5487166" cy="308653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01820"/>
          </a:solidFill>
          <a:ln>
            <a:solidFill>
              <a:srgbClr val="101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55448"/>
          </a:xfrm>
          <a:prstGeom prst="rect">
            <a:avLst/>
          </a:prstGeom>
          <a:solidFill>
            <a:srgbClr val="F6C94C"/>
          </a:solidFill>
          <a:ln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237744"/>
            <a:ext cx="7863840" cy="43891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lnSpcReduction="10000"/>
          </a:bodyPr>
          <a:lstStyle/>
          <a:p>
            <a:pPr algn="l"/>
            <a:r>
              <a:rPr sz="2700" b="1" dirty="0">
                <a:solidFill>
                  <a:srgbClr val="F7F3DF"/>
                </a:solidFill>
                <a:latin typeface="Aptos Display"/>
              </a:rPr>
              <a:t>Quick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94944"/>
            <a:ext cx="96012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400" b="0">
                <a:solidFill>
                  <a:srgbClr val="B9C2C9"/>
                </a:solidFill>
                <a:latin typeface="Aptos"/>
              </a:rPr>
              <a:t>The short path from menu to road victory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43000"/>
            <a:ext cx="5257800" cy="1600200"/>
          </a:xfrm>
          <a:prstGeom prst="rect">
            <a:avLst/>
          </a:prstGeom>
          <a:solidFill>
            <a:srgbClr val="182231"/>
          </a:solidFill>
          <a:ln w="17780">
            <a:solidFill>
              <a:srgbClr val="5C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7" name="TextBox 6"/>
          <p:cNvSpPr txBox="1"/>
          <p:nvPr/>
        </p:nvSpPr>
        <p:spPr>
          <a:xfrm>
            <a:off x="621792" y="1252728"/>
            <a:ext cx="50200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800" b="1">
                <a:solidFill>
                  <a:srgbClr val="F7F3DF"/>
                </a:solidFill>
                <a:latin typeface="Aptos"/>
              </a:rPr>
              <a:t>1. Pick a 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719072"/>
            <a:ext cx="5020056" cy="93268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b="0" dirty="0">
                <a:solidFill>
                  <a:srgbClr val="B9C2C9"/>
                </a:solidFill>
                <a:latin typeface="Aptos"/>
              </a:rPr>
              <a:t>Every mode now goes to a second screen. Choose the road, read the mode text, then press Start Game.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143000"/>
            <a:ext cx="5257800" cy="1600200"/>
          </a:xfrm>
          <a:prstGeom prst="rect">
            <a:avLst/>
          </a:prstGeom>
          <a:solidFill>
            <a:srgbClr val="182231"/>
          </a:solidFill>
          <a:ln w="17780">
            <a:solidFill>
              <a:srgbClr val="75E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10" name="TextBox 9"/>
          <p:cNvSpPr txBox="1"/>
          <p:nvPr/>
        </p:nvSpPr>
        <p:spPr>
          <a:xfrm>
            <a:off x="6336792" y="1252728"/>
            <a:ext cx="50200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800" b="1">
                <a:solidFill>
                  <a:srgbClr val="F7F3DF"/>
                </a:solidFill>
                <a:latin typeface="Aptos"/>
              </a:rPr>
              <a:t>2. Take turns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796902"/>
            <a:ext cx="5020056" cy="85485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b="0">
                <a:solidFill>
                  <a:srgbClr val="B9C2C9"/>
                </a:solidFill>
                <a:latin typeface="Aptos"/>
              </a:rPr>
              <a:t>On your turn, select a skill, pick a legal target, move, or end turn. The game log shows the player hint when you control that turn.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291840"/>
            <a:ext cx="5257800" cy="1600200"/>
          </a:xfrm>
          <a:prstGeom prst="rect">
            <a:avLst/>
          </a:prstGeom>
          <a:solidFill>
            <a:srgbClr val="182231"/>
          </a:solidFill>
          <a:ln w="17780">
            <a:solidFill>
              <a:srgbClr val="FF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13" name="TextBox 12"/>
          <p:cNvSpPr txBox="1"/>
          <p:nvPr/>
        </p:nvSpPr>
        <p:spPr>
          <a:xfrm>
            <a:off x="621792" y="3401568"/>
            <a:ext cx="50200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800" b="1">
                <a:solidFill>
                  <a:srgbClr val="F7F3DF"/>
                </a:solidFill>
                <a:latin typeface="Aptos"/>
              </a:rPr>
              <a:t>3. Clear encounters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849624"/>
            <a:ext cx="5020056" cy="950976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b="0" dirty="0">
                <a:solidFill>
                  <a:srgbClr val="B9C2C9"/>
                </a:solidFill>
                <a:latin typeface="Aptos"/>
              </a:rPr>
              <a:t>After each encounter, recover before walking into the next group. Dead heroes need </a:t>
            </a:r>
            <a:r>
              <a:rPr b="0" dirty="0" err="1">
                <a:solidFill>
                  <a:srgbClr val="B9C2C9"/>
                </a:solidFill>
                <a:latin typeface="Aptos"/>
              </a:rPr>
              <a:t>Pharhad</a:t>
            </a:r>
            <a:r>
              <a:rPr b="0" dirty="0">
                <a:solidFill>
                  <a:srgbClr val="B9C2C9"/>
                </a:solidFill>
                <a:latin typeface="Aptos"/>
              </a:rPr>
              <a:t> Idol first; wounded heroes want Safe Camp.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291840"/>
            <a:ext cx="5257800" cy="1600200"/>
          </a:xfrm>
          <a:prstGeom prst="rect">
            <a:avLst/>
          </a:prstGeom>
          <a:solidFill>
            <a:srgbClr val="182231"/>
          </a:solidFill>
          <a:ln w="17780"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16" name="TextBox 15"/>
          <p:cNvSpPr txBox="1"/>
          <p:nvPr/>
        </p:nvSpPr>
        <p:spPr>
          <a:xfrm>
            <a:off x="6336792" y="3401568"/>
            <a:ext cx="50200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800" b="1">
                <a:solidFill>
                  <a:srgbClr val="F7F3DF"/>
                </a:solidFill>
                <a:latin typeface="Aptos"/>
              </a:rPr>
              <a:t>4. Finish the roads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4008474"/>
            <a:ext cx="5020056" cy="792126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300" b="0">
                <a:solidFill>
                  <a:srgbClr val="B9C2C9"/>
                </a:solidFill>
                <a:latin typeface="Aptos"/>
              </a:rPr>
              <a:t>Road 1 leads to Road 2, then Road 3, then Road 4 when the heroes survive. If Game Over appears and a save exists, choose Restart From Save to resume the last autosave.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5623560"/>
            <a:ext cx="10744200" cy="804672"/>
          </a:xfrm>
          <a:prstGeom prst="rect">
            <a:avLst/>
          </a:prstGeom>
          <a:solidFill>
            <a:srgbClr val="05070A"/>
          </a:solidFill>
          <a:ln w="16510"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9" name="TextBox 18"/>
          <p:cNvSpPr txBox="1"/>
          <p:nvPr/>
        </p:nvSpPr>
        <p:spPr>
          <a:xfrm>
            <a:off x="960120" y="5797296"/>
            <a:ext cx="102870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ctr"/>
            <a:r>
              <a:rPr sz="1700" b="1" dirty="0">
                <a:solidFill>
                  <a:srgbClr val="F7F3DF"/>
                </a:solidFill>
                <a:latin typeface="Aptos"/>
              </a:rPr>
              <a:t>Autosave loop: finish an encounter -&gt; recover -&gt; autosave -&gt; restart from that save after Game Over if needed.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01820"/>
          </a:solidFill>
          <a:ln>
            <a:solidFill>
              <a:srgbClr val="101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55448"/>
          </a:xfrm>
          <a:prstGeom prst="rect">
            <a:avLst/>
          </a:prstGeom>
          <a:solidFill>
            <a:srgbClr val="F6C94C"/>
          </a:solidFill>
          <a:ln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237744"/>
            <a:ext cx="7863840" cy="43891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lnSpcReduction="10000"/>
          </a:bodyPr>
          <a:lstStyle/>
          <a:p>
            <a:pPr algn="l"/>
            <a:r>
              <a:rPr sz="2700" b="1">
                <a:solidFill>
                  <a:srgbClr val="F7F3DF"/>
                </a:solidFill>
                <a:latin typeface="Aptos Display"/>
              </a:rPr>
              <a:t>Menu And Modes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94944"/>
            <a:ext cx="96012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400" b="0">
                <a:solidFill>
                  <a:srgbClr val="B9C2C9"/>
                </a:solidFill>
                <a:latin typeface="Aptos"/>
              </a:rPr>
              <a:t>All modes use a road/setup screen before Start Game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52472"/>
            <a:ext cx="5257800" cy="1143000"/>
          </a:xfrm>
          <a:prstGeom prst="rect">
            <a:avLst/>
          </a:prstGeom>
          <a:solidFill>
            <a:srgbClr val="182231"/>
          </a:solidFill>
          <a:ln w="17780">
            <a:solidFill>
              <a:srgbClr val="5C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7" name="TextBox 6"/>
          <p:cNvSpPr txBox="1"/>
          <p:nvPr/>
        </p:nvSpPr>
        <p:spPr>
          <a:xfrm>
            <a:off x="621792" y="1462199"/>
            <a:ext cx="50200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800" b="1">
                <a:solidFill>
                  <a:srgbClr val="F7F3DF"/>
                </a:solidFill>
                <a:latin typeface="Aptos"/>
              </a:rPr>
              <a:t>Play Heroes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0246"/>
            <a:ext cx="5020056" cy="6126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400" b="0">
                <a:solidFill>
                  <a:srgbClr val="B9C2C9"/>
                </a:solidFill>
                <a:latin typeface="Aptos"/>
              </a:rPr>
              <a:t>Normal party control. Pick Road 1-4, then lead Vanguard, Wayfinder, Ember Sage, and Becky.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352472"/>
            <a:ext cx="5257800" cy="1143000"/>
          </a:xfrm>
          <a:prstGeom prst="rect">
            <a:avLst/>
          </a:prstGeom>
          <a:solidFill>
            <a:srgbClr val="182231"/>
          </a:solidFill>
          <a:ln w="17780">
            <a:solidFill>
              <a:srgbClr val="FF5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10" name="TextBox 9"/>
          <p:cNvSpPr txBox="1"/>
          <p:nvPr/>
        </p:nvSpPr>
        <p:spPr>
          <a:xfrm>
            <a:off x="6336792" y="1462199"/>
            <a:ext cx="50200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800" b="1">
                <a:solidFill>
                  <a:srgbClr val="F7F3DF"/>
                </a:solidFill>
                <a:latin typeface="Aptos"/>
              </a:rPr>
              <a:t>Play Monsters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40246"/>
            <a:ext cx="5020056" cy="6126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400" b="0">
                <a:solidFill>
                  <a:srgbClr val="B9C2C9"/>
                </a:solidFill>
                <a:latin typeface="Aptos"/>
              </a:rPr>
              <a:t>Like Play Heroes, except you control the active monster turns. No monster-picking step. Flesh Beasts stay AI-only.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074102"/>
            <a:ext cx="5257800" cy="1143000"/>
          </a:xfrm>
          <a:prstGeom prst="rect">
            <a:avLst/>
          </a:prstGeom>
          <a:solidFill>
            <a:srgbClr val="182231"/>
          </a:solidFill>
          <a:ln w="17780"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13" name="TextBox 12"/>
          <p:cNvSpPr txBox="1"/>
          <p:nvPr/>
        </p:nvSpPr>
        <p:spPr>
          <a:xfrm>
            <a:off x="621792" y="3183830"/>
            <a:ext cx="50200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2400" b="1">
                <a:solidFill>
                  <a:srgbClr val="F7F3DF"/>
                </a:solidFill>
                <a:latin typeface="Aptos"/>
              </a:rPr>
              <a:t>Play Pharhad / Send Cleric 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629977"/>
            <a:ext cx="5020056" cy="6126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300" b="0">
                <a:solidFill>
                  <a:srgbClr val="B9C2C9"/>
                </a:solidFill>
                <a:latin typeface="Aptos"/>
              </a:rPr>
              <a:t>Play Pharhad gives divine intervention turns. The gold Send Cleric Z button opens its own setup screen for a solo run with Love and Truth.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074102"/>
            <a:ext cx="5257800" cy="1143000"/>
          </a:xfrm>
          <a:prstGeom prst="rect">
            <a:avLst/>
          </a:prstGeom>
          <a:solidFill>
            <a:srgbClr val="182231"/>
          </a:solidFill>
          <a:ln w="17780">
            <a:solidFill>
              <a:srgbClr val="B6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16" name="TextBox 15"/>
          <p:cNvSpPr txBox="1"/>
          <p:nvPr/>
        </p:nvSpPr>
        <p:spPr>
          <a:xfrm>
            <a:off x="6336792" y="3183830"/>
            <a:ext cx="50200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800" b="1">
                <a:solidFill>
                  <a:srgbClr val="F7F3DF"/>
                </a:solidFill>
                <a:latin typeface="Aptos"/>
              </a:rPr>
              <a:t>Hero Chess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3629977"/>
            <a:ext cx="5020056" cy="6126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300" b="0">
                <a:solidFill>
                  <a:srgbClr val="B9C2C9"/>
                </a:solidFill>
                <a:latin typeface="Aptos"/>
              </a:rPr>
              <a:t>A tactical duel against rival heroes. Fog is off, player units glow blue, enemy units glow red, and rivals carry one Salve Vial.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892040"/>
            <a:ext cx="10835640" cy="987552"/>
          </a:xfrm>
          <a:prstGeom prst="rect">
            <a:avLst/>
          </a:prstGeom>
          <a:solidFill>
            <a:srgbClr val="223044"/>
          </a:solidFill>
          <a:ln w="19050"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9" name="TextBox 18"/>
          <p:cNvSpPr txBox="1"/>
          <p:nvPr/>
        </p:nvSpPr>
        <p:spPr>
          <a:xfrm>
            <a:off x="952499" y="5078321"/>
            <a:ext cx="10287000" cy="3840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ctr"/>
            <a:r>
              <a:rPr sz="1600" b="1">
                <a:solidFill>
                  <a:srgbClr val="F7F3DF"/>
                </a:solidFill>
                <a:latin typeface="Aptos"/>
              </a:rPr>
              <a:t>Menu buttons: Music, Fog, 11s, Tutorial, Email Me, Rename. 11s has no color when off, turns red when on, and is disabled in Tutorial.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-1"/>
            <a:ext cx="12191999" cy="6858000"/>
          </a:xfrm>
          <a:prstGeom prst="rect">
            <a:avLst/>
          </a:prstGeom>
          <a:solidFill>
            <a:srgbClr val="101820"/>
          </a:solidFill>
          <a:ln>
            <a:solidFill>
              <a:srgbClr val="101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55448"/>
          </a:xfrm>
          <a:prstGeom prst="rect">
            <a:avLst/>
          </a:prstGeom>
          <a:solidFill>
            <a:srgbClr val="F6C94C"/>
          </a:solidFill>
          <a:ln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237744"/>
            <a:ext cx="7863840" cy="43891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lnSpcReduction="10000"/>
          </a:bodyPr>
          <a:lstStyle/>
          <a:p>
            <a:pPr algn="l"/>
            <a:r>
              <a:rPr sz="2700" b="1">
                <a:solidFill>
                  <a:srgbClr val="F7F3DF"/>
                </a:solidFill>
                <a:latin typeface="Aptos Display"/>
              </a:rPr>
              <a:t>Controls And 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743104"/>
            <a:ext cx="96012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800" b="0" dirty="0">
                <a:solidFill>
                  <a:srgbClr val="B9C2C9"/>
                </a:solidFill>
                <a:latin typeface="Aptos"/>
              </a:rPr>
              <a:t>Where to look during play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26890"/>
            <a:ext cx="3566160" cy="2002109"/>
          </a:xfrm>
          <a:prstGeom prst="rect">
            <a:avLst/>
          </a:prstGeom>
          <a:solidFill>
            <a:srgbClr val="182231"/>
          </a:solidFill>
          <a:ln w="17780">
            <a:solidFill>
              <a:srgbClr val="5C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400"/>
          </a:p>
        </p:txBody>
      </p:sp>
      <p:sp>
        <p:nvSpPr>
          <p:cNvPr id="7" name="TextBox 6"/>
          <p:cNvSpPr txBox="1"/>
          <p:nvPr/>
        </p:nvSpPr>
        <p:spPr>
          <a:xfrm>
            <a:off x="621792" y="1536618"/>
            <a:ext cx="3328415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3200" b="1">
                <a:solidFill>
                  <a:srgbClr val="F7F3DF"/>
                </a:solidFill>
                <a:latin typeface="Aptos"/>
              </a:rPr>
              <a:t>Turn Queue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089094"/>
            <a:ext cx="3328415" cy="694944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300" b="0">
                <a:solidFill>
                  <a:srgbClr val="B9C2C9"/>
                </a:solidFill>
                <a:latin typeface="Aptos"/>
              </a:rPr>
              <a:t>Top row shows who acts next. The active icon has the large glowing box. Hero Chess uses blue player markers and red enemy markers; Cleric Z allies glow green.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5968" y="1426890"/>
            <a:ext cx="3566160" cy="2002109"/>
          </a:xfrm>
          <a:prstGeom prst="rect">
            <a:avLst/>
          </a:prstGeom>
          <a:solidFill>
            <a:srgbClr val="182231"/>
          </a:solidFill>
          <a:ln w="17780">
            <a:solidFill>
              <a:srgbClr val="75E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400"/>
          </a:p>
        </p:txBody>
      </p:sp>
      <p:sp>
        <p:nvSpPr>
          <p:cNvPr id="10" name="TextBox 9"/>
          <p:cNvSpPr txBox="1"/>
          <p:nvPr/>
        </p:nvSpPr>
        <p:spPr>
          <a:xfrm>
            <a:off x="4434840" y="1536618"/>
            <a:ext cx="3328415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3200" b="1">
                <a:solidFill>
                  <a:srgbClr val="F7F3DF"/>
                </a:solidFill>
                <a:latin typeface="Aptos"/>
              </a:rPr>
              <a:t>Game 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089094"/>
            <a:ext cx="3328415" cy="694944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600" b="0">
                <a:solidFill>
                  <a:srgbClr val="B9C2C9"/>
                </a:solidFill>
                <a:latin typeface="Aptos"/>
              </a:rPr>
              <a:t>Skill selections write full explanations here, including cost, range, dice, saves, and special effects.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19872" y="1426890"/>
            <a:ext cx="3566160" cy="2002109"/>
          </a:xfrm>
          <a:prstGeom prst="rect">
            <a:avLst/>
          </a:prstGeom>
          <a:solidFill>
            <a:srgbClr val="182231"/>
          </a:solidFill>
          <a:ln w="17780"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400"/>
          </a:p>
        </p:txBody>
      </p:sp>
      <p:sp>
        <p:nvSpPr>
          <p:cNvPr id="13" name="TextBox 12"/>
          <p:cNvSpPr txBox="1"/>
          <p:nvPr/>
        </p:nvSpPr>
        <p:spPr>
          <a:xfrm>
            <a:off x="8238744" y="1536618"/>
            <a:ext cx="3328415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3200" b="1">
                <a:solidFill>
                  <a:srgbClr val="F7F3DF"/>
                </a:solidFill>
                <a:latin typeface="Aptos"/>
              </a:rPr>
              <a:t>Stats Popup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2089094"/>
            <a:ext cx="3328415" cy="694944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600" b="0">
                <a:solidFill>
                  <a:srgbClr val="B9C2C9"/>
                </a:solidFill>
                <a:latin typeface="Aptos"/>
              </a:rPr>
              <a:t>Click or tap icons to inspect units, items, and map features. The popup opens at the top-left with a darker background.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785202"/>
            <a:ext cx="3566160" cy="1775626"/>
          </a:xfrm>
          <a:prstGeom prst="rect">
            <a:avLst/>
          </a:prstGeom>
          <a:solidFill>
            <a:srgbClr val="182231"/>
          </a:solidFill>
          <a:ln w="17780">
            <a:solidFill>
              <a:srgbClr val="FF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400"/>
          </a:p>
        </p:txBody>
      </p:sp>
      <p:sp>
        <p:nvSpPr>
          <p:cNvPr id="16" name="TextBox 15"/>
          <p:cNvSpPr txBox="1"/>
          <p:nvPr/>
        </p:nvSpPr>
        <p:spPr>
          <a:xfrm>
            <a:off x="621792" y="3894930"/>
            <a:ext cx="3328415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3200" b="1">
                <a:solidFill>
                  <a:srgbClr val="F7F3DF"/>
                </a:solidFill>
                <a:latin typeface="Aptos"/>
              </a:rPr>
              <a:t>Target Highlights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511202"/>
            <a:ext cx="3328415" cy="694944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300" b="0">
                <a:solidFill>
                  <a:srgbClr val="B9C2C9"/>
                </a:solidFill>
                <a:latin typeface="Aptos"/>
              </a:rPr>
              <a:t>During player-controlled turns, legal enemy targets are highlighted orange. Converted Cleric Z allies stay visually separate from monsters with green glow markers.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3785202"/>
            <a:ext cx="3566160" cy="1775626"/>
          </a:xfrm>
          <a:prstGeom prst="rect">
            <a:avLst/>
          </a:prstGeom>
          <a:solidFill>
            <a:srgbClr val="182231"/>
          </a:solidFill>
          <a:ln w="17780">
            <a:solidFill>
              <a:srgbClr val="B6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400"/>
          </a:p>
        </p:txBody>
      </p:sp>
      <p:sp>
        <p:nvSpPr>
          <p:cNvPr id="19" name="TextBox 18"/>
          <p:cNvSpPr txBox="1"/>
          <p:nvPr/>
        </p:nvSpPr>
        <p:spPr>
          <a:xfrm>
            <a:off x="4434840" y="3894930"/>
            <a:ext cx="3328415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3200" b="1">
                <a:solidFill>
                  <a:srgbClr val="F7F3DF"/>
                </a:solidFill>
                <a:latin typeface="Aptos"/>
              </a:rPr>
              <a:t>Fog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4511202"/>
            <a:ext cx="3328415" cy="694944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300" b="0">
                <a:solidFill>
                  <a:srgbClr val="B9C2C9"/>
                </a:solidFill>
                <a:latin typeface="Aptos"/>
              </a:rPr>
              <a:t>Fog can be toggled from the menu. Play Monsters and Hero Chess run with fog off; Truth still respects line of sight and cannot pass through walls.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19872" y="3785202"/>
            <a:ext cx="3566160" cy="1775626"/>
          </a:xfrm>
          <a:prstGeom prst="rect">
            <a:avLst/>
          </a:prstGeom>
          <a:solidFill>
            <a:srgbClr val="182231"/>
          </a:solidFill>
          <a:ln w="17780">
            <a:solidFill>
              <a:srgbClr val="FF5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400"/>
          </a:p>
        </p:txBody>
      </p:sp>
      <p:sp>
        <p:nvSpPr>
          <p:cNvPr id="22" name="TextBox 21"/>
          <p:cNvSpPr txBox="1"/>
          <p:nvPr/>
        </p:nvSpPr>
        <p:spPr>
          <a:xfrm>
            <a:off x="8238744" y="3894930"/>
            <a:ext cx="3328415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3200" b="1">
                <a:solidFill>
                  <a:srgbClr val="F7F3DF"/>
                </a:solidFill>
                <a:latin typeface="Aptos"/>
              </a:rPr>
              <a:t>Menu Pause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511202"/>
            <a:ext cx="3328415" cy="694944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fontScale="92500" lnSpcReduction="10000"/>
          </a:bodyPr>
          <a:lstStyle/>
          <a:p>
            <a:pPr algn="l"/>
            <a:r>
              <a:rPr sz="1600" b="0">
                <a:solidFill>
                  <a:srgbClr val="B9C2C9"/>
                </a:solidFill>
                <a:latin typeface="Aptos"/>
              </a:rPr>
              <a:t>Opening the game menu pauses game activity and blocks status icon clicks while music keeps playing.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01820"/>
          </a:solidFill>
          <a:ln>
            <a:solidFill>
              <a:srgbClr val="101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55448"/>
          </a:xfrm>
          <a:prstGeom prst="rect">
            <a:avLst/>
          </a:prstGeom>
          <a:solidFill>
            <a:srgbClr val="F6C94C"/>
          </a:solidFill>
          <a:ln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" name="TextBox 3"/>
          <p:cNvSpPr txBox="1"/>
          <p:nvPr/>
        </p:nvSpPr>
        <p:spPr>
          <a:xfrm>
            <a:off x="411480" y="237744"/>
            <a:ext cx="7863840" cy="43891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3600" b="1">
                <a:solidFill>
                  <a:srgbClr val="F7F3DF"/>
                </a:solidFill>
                <a:latin typeface="Aptos Display"/>
              </a:rPr>
              <a:t>11s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992660"/>
            <a:ext cx="96012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400" b="0" dirty="0">
                <a:solidFill>
                  <a:srgbClr val="B9C2C9"/>
                </a:solidFill>
                <a:latin typeface="Aptos"/>
              </a:rPr>
              <a:t>Fast turns with sound cues and a visible clock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00737"/>
            <a:ext cx="2971800" cy="3504910"/>
          </a:xfrm>
          <a:prstGeom prst="rect">
            <a:avLst/>
          </a:prstGeom>
          <a:solidFill>
            <a:srgbClr val="FF5C57"/>
          </a:solidFill>
          <a:ln w="25400">
            <a:solidFill>
              <a:srgbClr val="0507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" name="TextBox 6"/>
          <p:cNvSpPr txBox="1"/>
          <p:nvPr/>
        </p:nvSpPr>
        <p:spPr>
          <a:xfrm>
            <a:off x="1234440" y="1855600"/>
            <a:ext cx="1828800" cy="1033273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ctr"/>
            <a:r>
              <a:rPr sz="6000" b="1" dirty="0">
                <a:solidFill>
                  <a:srgbClr val="F7F3DF"/>
                </a:solidFill>
                <a:latin typeface="Aptos Display"/>
              </a:rPr>
              <a:t>11s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254632"/>
            <a:ext cx="2523744" cy="1932789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ctr"/>
            <a:r>
              <a:rPr b="1" dirty="0">
                <a:solidFill>
                  <a:srgbClr val="F7F3DF"/>
                </a:solidFill>
                <a:latin typeface="Aptos"/>
              </a:rPr>
              <a:t>When enabled, the player has 11 seconds to choose a turn. The last 3 seconds play the button sound, and the timer hitting 0 plays the turn-advance cue.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9080" y="1745873"/>
            <a:ext cx="3429000" cy="1234440"/>
          </a:xfrm>
          <a:prstGeom prst="rect">
            <a:avLst/>
          </a:prstGeom>
          <a:solidFill>
            <a:srgbClr val="182231"/>
          </a:solidFill>
          <a:ln w="17780">
            <a:solidFill>
              <a:srgbClr val="75E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10" name="TextBox 9"/>
          <p:cNvSpPr txBox="1"/>
          <p:nvPr/>
        </p:nvSpPr>
        <p:spPr>
          <a:xfrm>
            <a:off x="4187952" y="1770536"/>
            <a:ext cx="31912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800" b="1" dirty="0">
                <a:solidFill>
                  <a:srgbClr val="F7F3DF"/>
                </a:solidFill>
                <a:latin typeface="Aptos"/>
              </a:rPr>
              <a:t>Actions finish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87952" y="2237950"/>
            <a:ext cx="3191256" cy="70408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400" b="0" dirty="0">
                <a:solidFill>
                  <a:srgbClr val="B9C2C9"/>
                </a:solidFill>
                <a:latin typeface="Aptos"/>
              </a:rPr>
              <a:t>The timer advances the turn after the time limit, but it still lets actions already started finish cleanly.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18120" y="1745873"/>
            <a:ext cx="3429000" cy="1234440"/>
          </a:xfrm>
          <a:prstGeom prst="rect">
            <a:avLst/>
          </a:prstGeom>
          <a:solidFill>
            <a:srgbClr val="182231"/>
          </a:solidFill>
          <a:ln w="17780"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13" name="TextBox 12"/>
          <p:cNvSpPr txBox="1"/>
          <p:nvPr/>
        </p:nvSpPr>
        <p:spPr>
          <a:xfrm>
            <a:off x="7936992" y="1770536"/>
            <a:ext cx="31912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800" b="1" dirty="0">
                <a:solidFill>
                  <a:srgbClr val="F7F3DF"/>
                </a:solidFill>
                <a:latin typeface="Aptos"/>
              </a:rPr>
              <a:t>Tutorial lockout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992" y="2237950"/>
            <a:ext cx="3191256" cy="70408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400" b="0">
                <a:solidFill>
                  <a:srgbClr val="B9C2C9"/>
                </a:solidFill>
                <a:latin typeface="Aptos"/>
              </a:rPr>
              <a:t>Tutorial disables 11s mode so new players can read, inspect, and learn without pressure.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69080" y="3483233"/>
            <a:ext cx="3429000" cy="1234440"/>
          </a:xfrm>
          <a:prstGeom prst="rect">
            <a:avLst/>
          </a:prstGeom>
          <a:solidFill>
            <a:srgbClr val="182231"/>
          </a:solidFill>
          <a:ln w="17780">
            <a:solidFill>
              <a:srgbClr val="5C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16" name="TextBox 15"/>
          <p:cNvSpPr txBox="1"/>
          <p:nvPr/>
        </p:nvSpPr>
        <p:spPr>
          <a:xfrm>
            <a:off x="4187952" y="3497264"/>
            <a:ext cx="31912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800" b="1" dirty="0">
                <a:solidFill>
                  <a:srgbClr val="F7F3DF"/>
                </a:solidFill>
                <a:latin typeface="Aptos"/>
              </a:rPr>
              <a:t>Clock location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87952" y="3975310"/>
            <a:ext cx="3191256" cy="70408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400" b="0" dirty="0">
                <a:solidFill>
                  <a:srgbClr val="B9C2C9"/>
                </a:solidFill>
                <a:latin typeface="Aptos"/>
              </a:rPr>
              <a:t>The clock-like timer sits under the player turn queue icon so it is visible without covering the board.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3483232"/>
            <a:ext cx="3429000" cy="1427095"/>
          </a:xfrm>
          <a:prstGeom prst="rect">
            <a:avLst/>
          </a:prstGeom>
          <a:solidFill>
            <a:srgbClr val="182231"/>
          </a:solidFill>
          <a:ln w="17780">
            <a:solidFill>
              <a:srgbClr val="FF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19" name="TextBox 18"/>
          <p:cNvSpPr txBox="1"/>
          <p:nvPr/>
        </p:nvSpPr>
        <p:spPr>
          <a:xfrm>
            <a:off x="7936992" y="3497264"/>
            <a:ext cx="31912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800" b="1" dirty="0">
                <a:solidFill>
                  <a:srgbClr val="F7F3DF"/>
                </a:solidFill>
                <a:latin typeface="Aptos"/>
              </a:rPr>
              <a:t>Menu colors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3975310"/>
            <a:ext cx="3191256" cy="70408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400" b="0" dirty="0">
                <a:solidFill>
                  <a:srgbClr val="B9C2C9"/>
                </a:solidFill>
                <a:latin typeface="Aptos"/>
              </a:rPr>
              <a:t>11s turns red when active. When it is off, the button has no special color so it reads like a normal inactive menu option.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36109"/>
            <a:ext cx="10287000" cy="89228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ctr"/>
            <a:r>
              <a:rPr sz="2400" b="1" dirty="0">
                <a:solidFill>
                  <a:srgbClr val="F6C94C"/>
                </a:solidFill>
                <a:latin typeface="Aptos"/>
              </a:rPr>
              <a:t>Use 11s after you already know the icons. It turns the game into a quick-read tactics drill.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01820"/>
          </a:solidFill>
          <a:ln>
            <a:solidFill>
              <a:srgbClr val="101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55448"/>
          </a:xfrm>
          <a:prstGeom prst="rect">
            <a:avLst/>
          </a:prstGeom>
          <a:solidFill>
            <a:srgbClr val="F6C94C"/>
          </a:solidFill>
          <a:ln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237744"/>
            <a:ext cx="7863840" cy="43891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lnSpcReduction="10000"/>
          </a:bodyPr>
          <a:lstStyle/>
          <a:p>
            <a:pPr algn="l"/>
            <a:r>
              <a:rPr sz="2700" b="1">
                <a:solidFill>
                  <a:srgbClr val="F7F3DF"/>
                </a:solidFill>
                <a:latin typeface="Aptos Display"/>
              </a:rPr>
              <a:t>Hero Party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94944"/>
            <a:ext cx="96012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fontScale="92500" lnSpcReduction="10000"/>
          </a:bodyPr>
          <a:lstStyle/>
          <a:p>
            <a:pPr algn="l"/>
            <a:r>
              <a:rPr sz="1600" b="0" dirty="0">
                <a:solidFill>
                  <a:srgbClr val="B9C2C9"/>
                </a:solidFill>
                <a:latin typeface="Aptos"/>
              </a:rPr>
              <a:t>The four playable heroes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2633472" cy="4480560"/>
          </a:xfrm>
          <a:prstGeom prst="rect">
            <a:avLst/>
          </a:prstGeom>
          <a:solidFill>
            <a:srgbClr val="182231"/>
          </a:solidFill>
          <a:ln w="17780">
            <a:solidFill>
              <a:srgbClr val="5C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ppt_fit_0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" y="2534922"/>
            <a:ext cx="3493008" cy="34930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71016" y="1170431"/>
            <a:ext cx="1737360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100" b="1">
                <a:solidFill>
                  <a:srgbClr val="F7F3DF"/>
                </a:solidFill>
                <a:latin typeface="Aptos"/>
              </a:rPr>
              <a:t>Vanguard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8263" y="1463039"/>
            <a:ext cx="2438401" cy="3977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400" b="0">
                <a:solidFill>
                  <a:srgbClr val="B9C2C9"/>
                </a:solidFill>
                <a:latin typeface="Aptos"/>
              </a:rPr>
              <a:t>HP 14 | Move 6 | Guard 17</a:t>
            </a:r>
          </a:p>
          <a:p>
            <a:pPr algn="l"/>
            <a:r>
              <a:rPr sz="1400" b="0">
                <a:solidFill>
                  <a:srgbClr val="B9C2C9"/>
                </a:solidFill>
                <a:latin typeface="Aptos"/>
              </a:rPr>
              <a:t>Attack +5 | Damage +7 | Init +2</a:t>
            </a:r>
          </a:p>
          <a:p>
            <a:pPr algn="l"/>
            <a:r>
              <a:rPr sz="1400" b="0">
                <a:solidFill>
                  <a:srgbClr val="B9C2C9"/>
                </a:solidFill>
                <a:latin typeface="Aptos"/>
              </a:rPr>
              <a:t>STR 16 DEX 14 CON 15 WIS 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0712" y="1051560"/>
            <a:ext cx="2633472" cy="4480560"/>
          </a:xfrm>
          <a:prstGeom prst="rect">
            <a:avLst/>
          </a:prstGeom>
          <a:solidFill>
            <a:srgbClr val="182231"/>
          </a:solidFill>
          <a:ln w="17780">
            <a:solidFill>
              <a:srgbClr val="75E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ppt_fit_00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0839" y="2534922"/>
            <a:ext cx="3493008" cy="34930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78808" y="1170431"/>
            <a:ext cx="1737360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100" b="1">
                <a:solidFill>
                  <a:srgbClr val="F7F3DF"/>
                </a:solidFill>
                <a:latin typeface="Aptos"/>
              </a:rPr>
              <a:t>Wayfinder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6055" y="1463039"/>
            <a:ext cx="2438401" cy="3977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400" b="0">
                <a:solidFill>
                  <a:srgbClr val="B9C2C9"/>
                </a:solidFill>
                <a:latin typeface="Aptos"/>
              </a:rPr>
              <a:t>HP 14 | Move 7 | Guard 14</a:t>
            </a:r>
          </a:p>
          <a:p>
            <a:pPr algn="l"/>
            <a:r>
              <a:rPr sz="1400" b="0">
                <a:solidFill>
                  <a:srgbClr val="B9C2C9"/>
                </a:solidFill>
                <a:latin typeface="Aptos"/>
              </a:rPr>
              <a:t>Attack +4 | Damage +2 | Init +2</a:t>
            </a:r>
          </a:p>
          <a:p>
            <a:pPr algn="l"/>
            <a:r>
              <a:rPr sz="1400" b="0">
                <a:solidFill>
                  <a:srgbClr val="B9C2C9"/>
                </a:solidFill>
                <a:latin typeface="Aptos"/>
              </a:rPr>
              <a:t>STR 12 DEX 15 CON 14 WIS 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18504" y="1051560"/>
            <a:ext cx="2633472" cy="4480560"/>
          </a:xfrm>
          <a:prstGeom prst="rect">
            <a:avLst/>
          </a:prstGeom>
          <a:solidFill>
            <a:srgbClr val="182231"/>
          </a:solidFill>
          <a:ln w="17780"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ppt_fit_0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8631" y="2534922"/>
            <a:ext cx="3493008" cy="34930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086600" y="1170431"/>
            <a:ext cx="1737360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100" b="1">
                <a:solidFill>
                  <a:srgbClr val="F7F3DF"/>
                </a:solidFill>
                <a:latin typeface="Aptos"/>
              </a:rPr>
              <a:t>Ember Sage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3847" y="1463039"/>
            <a:ext cx="2438401" cy="3977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400" b="0">
                <a:solidFill>
                  <a:srgbClr val="B9C2C9"/>
                </a:solidFill>
                <a:latin typeface="Aptos"/>
              </a:rPr>
              <a:t>HP 9 | Move 6 | Guard 14</a:t>
            </a:r>
          </a:p>
          <a:p>
            <a:pPr algn="l"/>
            <a:r>
              <a:rPr sz="1400" b="0">
                <a:solidFill>
                  <a:srgbClr val="B9C2C9"/>
                </a:solidFill>
                <a:latin typeface="Aptos"/>
              </a:rPr>
              <a:t>Attack +4 | Damage +1 | Init +0</a:t>
            </a:r>
          </a:p>
          <a:p>
            <a:pPr algn="l"/>
            <a:r>
              <a:rPr sz="1400" b="0">
                <a:solidFill>
                  <a:srgbClr val="B9C2C9"/>
                </a:solidFill>
                <a:latin typeface="Aptos"/>
              </a:rPr>
              <a:t>STR 10 DEX 12 CON 16 WIS 14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26296" y="1051560"/>
            <a:ext cx="2633472" cy="4480560"/>
          </a:xfrm>
          <a:prstGeom prst="rect">
            <a:avLst/>
          </a:prstGeom>
          <a:solidFill>
            <a:srgbClr val="182231"/>
          </a:solidFill>
          <a:ln w="17780">
            <a:solidFill>
              <a:srgbClr val="B6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ppt_fit_00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6423" y="2534922"/>
            <a:ext cx="3493008" cy="34930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994392" y="1170431"/>
            <a:ext cx="1737360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100" b="1">
                <a:solidFill>
                  <a:srgbClr val="F7F3DF"/>
                </a:solidFill>
                <a:latin typeface="Aptos"/>
              </a:rPr>
              <a:t>Becky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11639" y="1463039"/>
            <a:ext cx="2438401" cy="3977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400" b="0" dirty="0">
                <a:solidFill>
                  <a:srgbClr val="B9C2C9"/>
                </a:solidFill>
                <a:latin typeface="Aptos"/>
              </a:rPr>
              <a:t>HP 14 | Move 9 | Guard 14</a:t>
            </a:r>
          </a:p>
          <a:p>
            <a:pPr algn="l"/>
            <a:r>
              <a:rPr sz="1400" b="0" dirty="0">
                <a:solidFill>
                  <a:srgbClr val="B9C2C9"/>
                </a:solidFill>
                <a:latin typeface="Aptos"/>
              </a:rPr>
              <a:t>Attack +4 | Damage +2 | Init +6</a:t>
            </a:r>
          </a:p>
          <a:p>
            <a:pPr algn="l"/>
            <a:r>
              <a:rPr sz="1400" b="0" dirty="0">
                <a:solidFill>
                  <a:srgbClr val="B9C2C9"/>
                </a:solidFill>
                <a:latin typeface="Aptos"/>
              </a:rPr>
              <a:t>STR 12 DEX 20 CON 14 WIS 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6080760"/>
            <a:ext cx="10515600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lnSpcReduction="10000"/>
          </a:bodyPr>
          <a:lstStyle/>
          <a:p>
            <a:pPr algn="ctr"/>
            <a:r>
              <a:rPr sz="1300" b="1">
                <a:solidFill>
                  <a:srgbClr val="B9C2C9"/>
                </a:solidFill>
                <a:latin typeface="Aptos"/>
              </a:rPr>
              <a:t>Rename keeps the roles clear: Vanguard, Wayfinder, Ember Sage, and Becky remain the four hero slots.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01820"/>
          </a:solidFill>
          <a:ln>
            <a:solidFill>
              <a:srgbClr val="101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55448"/>
          </a:xfrm>
          <a:prstGeom prst="rect">
            <a:avLst/>
          </a:prstGeom>
          <a:solidFill>
            <a:srgbClr val="F6C94C"/>
          </a:solidFill>
          <a:ln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237744"/>
            <a:ext cx="7863840" cy="43891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lnSpcReduction="10000"/>
          </a:bodyPr>
          <a:lstStyle/>
          <a:p>
            <a:pPr algn="l"/>
            <a:r>
              <a:rPr sz="2700" b="1">
                <a:solidFill>
                  <a:srgbClr val="F7F3DF"/>
                </a:solidFill>
                <a:latin typeface="Aptos Display"/>
              </a:rPr>
              <a:t>Hero Skill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94944"/>
            <a:ext cx="96012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fontScale="92500" lnSpcReduction="10000"/>
          </a:bodyPr>
          <a:lstStyle/>
          <a:p>
            <a:pPr algn="l"/>
            <a:r>
              <a:rPr sz="1600" b="0">
                <a:solidFill>
                  <a:srgbClr val="B9C2C9"/>
                </a:solidFill>
                <a:latin typeface="Aptos"/>
              </a:rPr>
              <a:t>What the party is built to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24128"/>
            <a:ext cx="5257800" cy="1874519"/>
          </a:xfrm>
          <a:prstGeom prst="rect">
            <a:avLst/>
          </a:prstGeom>
          <a:solidFill>
            <a:srgbClr val="182231"/>
          </a:solidFill>
          <a:ln w="17780">
            <a:solidFill>
              <a:srgbClr val="5C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" y="1170432"/>
            <a:ext cx="192024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400" b="1">
                <a:solidFill>
                  <a:srgbClr val="F7F3DF"/>
                </a:solidFill>
                <a:latin typeface="Aptos"/>
              </a:rPr>
              <a:t>Vanguard</a:t>
            </a:r>
          </a:p>
        </p:txBody>
      </p:sp>
      <p:pic>
        <p:nvPicPr>
          <p:cNvPr id="8" name="Picture 7" descr="ppt_fit_0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27048"/>
            <a:ext cx="502920" cy="502920"/>
          </a:xfrm>
          <a:prstGeom prst="rect">
            <a:avLst/>
          </a:prstGeom>
        </p:spPr>
      </p:pic>
      <p:pic>
        <p:nvPicPr>
          <p:cNvPr id="9" name="Picture 8" descr="ppt_fit_00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0512" y="1527048"/>
            <a:ext cx="502920" cy="502920"/>
          </a:xfrm>
          <a:prstGeom prst="rect">
            <a:avLst/>
          </a:prstGeom>
        </p:spPr>
      </p:pic>
      <p:pic>
        <p:nvPicPr>
          <p:cNvPr id="10" name="Picture 9" descr="ppt_fit_00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9504" y="1527048"/>
            <a:ext cx="502920" cy="502920"/>
          </a:xfrm>
          <a:prstGeom prst="rect">
            <a:avLst/>
          </a:prstGeom>
        </p:spPr>
      </p:pic>
      <p:pic>
        <p:nvPicPr>
          <p:cNvPr id="11" name="Picture 10" descr="ppt_fit_00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68496" y="1527048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4088" y="2152568"/>
            <a:ext cx="4846320" cy="6400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900" b="0" dirty="0">
                <a:solidFill>
                  <a:srgbClr val="B9C2C9"/>
                </a:solidFill>
                <a:latin typeface="Aptos"/>
              </a:rPr>
              <a:t>Steel Brand: Cost: Action. Range: 1-1 ft. Roll: 1d8 Slashing.</a:t>
            </a:r>
          </a:p>
          <a:p>
            <a:pPr algn="l"/>
            <a:r>
              <a:rPr sz="900" b="0" dirty="0">
                <a:solidFill>
                  <a:srgbClr val="B9C2C9"/>
                </a:solidFill>
                <a:latin typeface="Aptos"/>
              </a:rPr>
              <a:t>Grit Mend: Bonus: Heal 1d10 +2 Cost: Bonus Action.</a:t>
            </a:r>
          </a:p>
          <a:p>
            <a:pPr algn="l"/>
            <a:r>
              <a:rPr sz="900" b="0" dirty="0">
                <a:solidFill>
                  <a:srgbClr val="B9C2C9"/>
                </a:solidFill>
                <a:latin typeface="Aptos"/>
              </a:rPr>
              <a:t>Tempo Break: Free Action: Take one additional Attack action this turn. 1 per Food. Cost: Free.</a:t>
            </a:r>
          </a:p>
          <a:p>
            <a:pPr algn="l"/>
            <a:r>
              <a:rPr sz="900" b="0" dirty="0">
                <a:solidFill>
                  <a:srgbClr val="B9C2C9"/>
                </a:solidFill>
                <a:latin typeface="Aptos"/>
              </a:rPr>
              <a:t>Spear: Cost: Action. Range: 0-4 ft. Roll: 1d6 Piercing.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024128"/>
            <a:ext cx="5257800" cy="1874519"/>
          </a:xfrm>
          <a:prstGeom prst="rect">
            <a:avLst/>
          </a:prstGeom>
          <a:solidFill>
            <a:srgbClr val="182231"/>
          </a:solidFill>
          <a:ln w="17780">
            <a:solidFill>
              <a:srgbClr val="75E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82512" y="1170432"/>
            <a:ext cx="192024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400" b="1">
                <a:solidFill>
                  <a:srgbClr val="F7F3DF"/>
                </a:solidFill>
                <a:latin typeface="Aptos"/>
              </a:rPr>
              <a:t>Wayfinder</a:t>
            </a:r>
          </a:p>
        </p:txBody>
      </p:sp>
      <p:pic>
        <p:nvPicPr>
          <p:cNvPr id="15" name="Picture 14" descr="ppt_fit_0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527048"/>
            <a:ext cx="502920" cy="502920"/>
          </a:xfrm>
          <a:prstGeom prst="rect">
            <a:avLst/>
          </a:prstGeom>
        </p:spPr>
      </p:pic>
      <p:pic>
        <p:nvPicPr>
          <p:cNvPr id="16" name="Picture 15" descr="ppt_fit_001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5512" y="1527048"/>
            <a:ext cx="502920" cy="502920"/>
          </a:xfrm>
          <a:prstGeom prst="rect">
            <a:avLst/>
          </a:prstGeom>
        </p:spPr>
      </p:pic>
      <p:pic>
        <p:nvPicPr>
          <p:cNvPr id="17" name="Picture 16" descr="ppt_fit_002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04504" y="1527048"/>
            <a:ext cx="502920" cy="502920"/>
          </a:xfrm>
          <a:prstGeom prst="rect">
            <a:avLst/>
          </a:prstGeom>
        </p:spPr>
      </p:pic>
      <p:pic>
        <p:nvPicPr>
          <p:cNvPr id="18" name="Picture 17" descr="ppt_fit_002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83496" y="1527048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19088" y="2152568"/>
            <a:ext cx="4846320" cy="6400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800" b="0">
                <a:solidFill>
                  <a:srgbClr val="B9C2C9"/>
                </a:solidFill>
                <a:latin typeface="Aptos"/>
              </a:rPr>
              <a:t>Trail Bow: Slow: -10 ft movement Cost: Action. Range: 2-30 ft. Roll: 1d8 Slashing.</a:t>
            </a:r>
          </a:p>
          <a:p>
            <a:pPr algn="l"/>
            <a:r>
              <a:rPr sz="800" b="0">
                <a:solidFill>
                  <a:srgbClr val="B9C2C9"/>
                </a:solidFill>
                <a:latin typeface="Aptos"/>
              </a:rPr>
              <a:t>Quarry Brand: Bonus Action: Mark one enemy in range. Deal +1d6 Force on every hit against the...</a:t>
            </a:r>
          </a:p>
          <a:p>
            <a:pPr algn="l"/>
            <a:r>
              <a:rPr sz="800" b="0">
                <a:solidFill>
                  <a:srgbClr val="B9C2C9"/>
                </a:solidFill>
                <a:latin typeface="Aptos"/>
              </a:rPr>
              <a:t>Food: The party eats food between encounters. Vanguard regains 1 Grit Mend, Tempo Bre...</a:t>
            </a:r>
          </a:p>
          <a:p>
            <a:pPr algn="l"/>
            <a:r>
              <a:rPr sz="800" b="0">
                <a:solidFill>
                  <a:srgbClr val="B9C2C9"/>
                </a:solidFill>
                <a:latin typeface="Aptos"/>
              </a:rPr>
              <a:t>Auto Move: Cost: Free.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447288"/>
            <a:ext cx="5257800" cy="1874519"/>
          </a:xfrm>
          <a:prstGeom prst="rect">
            <a:avLst/>
          </a:prstGeom>
          <a:solidFill>
            <a:srgbClr val="182231"/>
          </a:solidFill>
          <a:ln w="17780"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7512" y="3593592"/>
            <a:ext cx="192024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400" b="1">
                <a:solidFill>
                  <a:srgbClr val="F7F3DF"/>
                </a:solidFill>
                <a:latin typeface="Aptos"/>
              </a:rPr>
              <a:t>Ember Sage</a:t>
            </a:r>
          </a:p>
        </p:txBody>
      </p:sp>
      <p:pic>
        <p:nvPicPr>
          <p:cNvPr id="22" name="Picture 21" descr="ppt_fit_002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520" y="3950208"/>
            <a:ext cx="502920" cy="502920"/>
          </a:xfrm>
          <a:prstGeom prst="rect">
            <a:avLst/>
          </a:prstGeom>
        </p:spPr>
      </p:pic>
      <p:pic>
        <p:nvPicPr>
          <p:cNvPr id="23" name="Picture 22" descr="ppt_fit_0023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10512" y="3950208"/>
            <a:ext cx="502920" cy="502920"/>
          </a:xfrm>
          <a:prstGeom prst="rect">
            <a:avLst/>
          </a:prstGeom>
        </p:spPr>
      </p:pic>
      <p:pic>
        <p:nvPicPr>
          <p:cNvPr id="24" name="Picture 23" descr="ppt_fit_0024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89504" y="3950208"/>
            <a:ext cx="502920" cy="502920"/>
          </a:xfrm>
          <a:prstGeom prst="rect">
            <a:avLst/>
          </a:prstGeom>
        </p:spPr>
      </p:pic>
      <p:pic>
        <p:nvPicPr>
          <p:cNvPr id="25" name="Picture 24" descr="ppt_fit_002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68496" y="3950208"/>
            <a:ext cx="502920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04088" y="4575728"/>
            <a:ext cx="4846320" cy="6400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900" b="0" dirty="0">
                <a:solidFill>
                  <a:srgbClr val="B9C2C9"/>
                </a:solidFill>
                <a:latin typeface="Aptos"/>
              </a:rPr>
              <a:t>Ember Shot: Cost: Action. Range: 2-24 ft. Roll: 1d10 Slashing.</a:t>
            </a:r>
          </a:p>
          <a:p>
            <a:pPr algn="l"/>
            <a:r>
              <a:rPr sz="900" b="0" dirty="0">
                <a:solidFill>
                  <a:srgbClr val="B9C2C9"/>
                </a:solidFill>
                <a:latin typeface="Aptos"/>
              </a:rPr>
              <a:t>Homing Sparks: Cost: Action. Range: 1-24 ft. Roll: 3d4+3 Psychic.</a:t>
            </a:r>
          </a:p>
          <a:p>
            <a:pPr algn="l"/>
            <a:r>
              <a:rPr sz="900" b="0" dirty="0">
                <a:solidFill>
                  <a:srgbClr val="B9C2C9"/>
                </a:solidFill>
                <a:latin typeface="Aptos"/>
              </a:rPr>
              <a:t>Inner Flare: Cost: Bonus Action.</a:t>
            </a:r>
          </a:p>
          <a:p>
            <a:pPr algn="l"/>
            <a:r>
              <a:rPr sz="900" b="0" dirty="0">
                <a:solidFill>
                  <a:srgbClr val="B9C2C9"/>
                </a:solidFill>
                <a:latin typeface="Aptos"/>
              </a:rPr>
              <a:t>Field Mend: Touch to Heal 2d8 + Wis [1 focus] Cost: Action. Range: 1-1 ft.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447288"/>
            <a:ext cx="5257800" cy="1874519"/>
          </a:xfrm>
          <a:prstGeom prst="rect">
            <a:avLst/>
          </a:prstGeom>
          <a:solidFill>
            <a:srgbClr val="182231"/>
          </a:solidFill>
          <a:ln w="17780">
            <a:solidFill>
              <a:srgbClr val="B6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82512" y="3593592"/>
            <a:ext cx="192024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400" b="1">
                <a:solidFill>
                  <a:srgbClr val="F7F3DF"/>
                </a:solidFill>
                <a:latin typeface="Aptos"/>
              </a:rPr>
              <a:t>Becky</a:t>
            </a:r>
          </a:p>
        </p:txBody>
      </p:sp>
      <p:pic>
        <p:nvPicPr>
          <p:cNvPr id="29" name="Picture 28" descr="ppt_fit_002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46520" y="3950208"/>
            <a:ext cx="502920" cy="502920"/>
          </a:xfrm>
          <a:prstGeom prst="rect">
            <a:avLst/>
          </a:prstGeom>
        </p:spPr>
      </p:pic>
      <p:pic>
        <p:nvPicPr>
          <p:cNvPr id="30" name="Picture 29" descr="ppt_fit_00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5512" y="3950208"/>
            <a:ext cx="502920" cy="502920"/>
          </a:xfrm>
          <a:prstGeom prst="rect">
            <a:avLst/>
          </a:prstGeom>
        </p:spPr>
      </p:pic>
      <p:pic>
        <p:nvPicPr>
          <p:cNvPr id="31" name="Picture 30" descr="ppt_fit_00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504" y="3950208"/>
            <a:ext cx="502920" cy="502920"/>
          </a:xfrm>
          <a:prstGeom prst="rect">
            <a:avLst/>
          </a:prstGeom>
        </p:spPr>
      </p:pic>
      <p:pic>
        <p:nvPicPr>
          <p:cNvPr id="32" name="Picture 31" descr="ppt_fit_002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83496" y="3950208"/>
            <a:ext cx="502920" cy="5029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419088" y="4575728"/>
            <a:ext cx="4846320" cy="6400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900" b="0">
                <a:solidFill>
                  <a:srgbClr val="B9C2C9"/>
                </a:solidFill>
                <a:latin typeface="Aptos"/>
              </a:rPr>
              <a:t>Two Kicks: ADV next attack Cost: Action. Range: 1-2 ft. Roll: 1d6+4 Bludgeoning. Save: Dex...</a:t>
            </a:r>
          </a:p>
          <a:p>
            <a:pPr algn="l"/>
            <a:r>
              <a:rPr sz="900" b="0">
                <a:solidFill>
                  <a:srgbClr val="B9C2C9"/>
                </a:solidFill>
                <a:latin typeface="Aptos"/>
              </a:rPr>
              <a:t>Spear: Cost: Action. Range: 0-4 ft. Roll: 1d6 Piercing.</a:t>
            </a:r>
          </a:p>
          <a:p>
            <a:pPr algn="l"/>
            <a:r>
              <a:rPr sz="900" b="0">
                <a:solidFill>
                  <a:srgbClr val="B9C2C9"/>
                </a:solidFill>
                <a:latin typeface="Aptos"/>
              </a:rPr>
              <a:t>Tempo Break: Free Action: Take one additional Attack action this turn. 1 per Food. Cost: Free.</a:t>
            </a:r>
          </a:p>
          <a:p>
            <a:pPr algn="l"/>
            <a:r>
              <a:rPr sz="900" b="0">
                <a:solidFill>
                  <a:srgbClr val="B9C2C9"/>
                </a:solidFill>
                <a:latin typeface="Aptos"/>
              </a:rPr>
              <a:t>Field Mend: Touch to Heal 2d8 + Wis [1 focus] Cost: Action. Range: 1-1 ft.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01820"/>
          </a:solidFill>
          <a:ln>
            <a:solidFill>
              <a:srgbClr val="101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55448"/>
          </a:xfrm>
          <a:prstGeom prst="rect">
            <a:avLst/>
          </a:prstGeom>
          <a:solidFill>
            <a:srgbClr val="F6C94C"/>
          </a:solidFill>
          <a:ln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237744"/>
            <a:ext cx="7863840" cy="43891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lnSpcReduction="10000"/>
          </a:bodyPr>
          <a:lstStyle/>
          <a:p>
            <a:pPr algn="l"/>
            <a:r>
              <a:rPr sz="2700" b="1">
                <a:solidFill>
                  <a:srgbClr val="F7F3DF"/>
                </a:solidFill>
                <a:latin typeface="Aptos Display"/>
              </a:rPr>
              <a:t>Enemies And Rivals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94944"/>
            <a:ext cx="96012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0">
                <a:solidFill>
                  <a:srgbClr val="B9C2C9"/>
                </a:solidFill>
                <a:latin typeface="Aptos"/>
              </a:rPr>
              <a:t>What fights 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3429000" cy="1572768"/>
          </a:xfrm>
          <a:prstGeom prst="rect">
            <a:avLst/>
          </a:prstGeom>
          <a:solidFill>
            <a:srgbClr val="182231"/>
          </a:solidFill>
          <a:ln w="17780">
            <a:solidFill>
              <a:srgbClr val="FF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7" name="Picture 6" descr="ppt_fit_0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17" y="928287"/>
            <a:ext cx="1588685" cy="15886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71016" y="1197864"/>
            <a:ext cx="25328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Thistlekin Scout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1490472"/>
            <a:ext cx="2551176" cy="10698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Basic road fighter. Numbers matter more than one big hit.</a:t>
            </a:r>
          </a:p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HP 7 | Move 6 | Guard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15968" y="1078992"/>
            <a:ext cx="3429000" cy="1572768"/>
          </a:xfrm>
          <a:prstGeom prst="rect">
            <a:avLst/>
          </a:prstGeom>
          <a:solidFill>
            <a:srgbClr val="182231"/>
          </a:solidFill>
          <a:ln w="17780">
            <a:solidFill>
              <a:srgbClr val="FF5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11" name="Picture 10" descr="ppt_fit_00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965" y="928287"/>
            <a:ext cx="1588685" cy="158868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84064" y="1197864"/>
            <a:ext cx="25328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Thistlekin Captain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4064" y="1490472"/>
            <a:ext cx="2551176" cy="10698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Captain pressure piece. Watch clustering and focus fire.</a:t>
            </a:r>
          </a:p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HP 21 | Move 6 | Guard 17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9016" y="1078992"/>
            <a:ext cx="3429000" cy="1572768"/>
          </a:xfrm>
          <a:prstGeom prst="rect">
            <a:avLst/>
          </a:prstGeom>
          <a:solidFill>
            <a:srgbClr val="182231"/>
          </a:solidFill>
          <a:ln w="17780">
            <a:solidFill>
              <a:srgbClr val="B6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15" name="Picture 14" descr="ppt_fit_00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0013" y="928287"/>
            <a:ext cx="1588685" cy="158868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897112" y="1197864"/>
            <a:ext cx="25328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Thistlekin General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97112" y="1490472"/>
            <a:ext cx="2551176" cy="10698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Now the Thistlekin General. Stronger road leader.</a:t>
            </a:r>
          </a:p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HP 21 | Move 6 | Guard 17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00400"/>
            <a:ext cx="3429000" cy="1572768"/>
          </a:xfrm>
          <a:prstGeom prst="rect">
            <a:avLst/>
          </a:prstGeom>
          <a:solidFill>
            <a:srgbClr val="182231"/>
          </a:solidFill>
          <a:ln w="17780">
            <a:solidFill>
              <a:srgbClr val="D44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19" name="Picture 18" descr="ppt_fit_003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917" y="3049696"/>
            <a:ext cx="1588685" cy="158868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71016" y="3319272"/>
            <a:ext cx="25328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Flesh Beast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71016" y="3611880"/>
            <a:ext cx="2551176" cy="10698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Renamed Flesh Beast. AI-only in Play Monsters.</a:t>
            </a:r>
          </a:p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HP 11 | Move 8 | Guard 13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15968" y="3200400"/>
            <a:ext cx="3429000" cy="1572768"/>
          </a:xfrm>
          <a:prstGeom prst="rect">
            <a:avLst/>
          </a:prstGeom>
          <a:solidFill>
            <a:srgbClr val="182231"/>
          </a:solidFill>
          <a:ln w="17780">
            <a:solidFill>
              <a:srgbClr val="B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23" name="Picture 22" descr="ppt_fit_003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76965" y="3049696"/>
            <a:ext cx="1588685" cy="158868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084064" y="3319272"/>
            <a:ext cx="25328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Cave Brute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84064" y="3611880"/>
            <a:ext cx="2551176" cy="10698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Heavy hitter with high HP and guard.</a:t>
            </a:r>
          </a:p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HP 27 | Move 6 | Guard 16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29016" y="3200400"/>
            <a:ext cx="3429000" cy="1572768"/>
          </a:xfrm>
          <a:prstGeom prst="rect">
            <a:avLst/>
          </a:prstGeom>
          <a:solidFill>
            <a:srgbClr val="182231"/>
          </a:solidFill>
          <a:ln w="17780"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27" name="Picture 26" descr="ppt_fit_003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90013" y="3049696"/>
            <a:ext cx="1588685" cy="158868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897112" y="3319272"/>
            <a:ext cx="25328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Pharhad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7112" y="3611880"/>
            <a:ext cx="2551176" cy="10698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Powerful protector in Play Pharhad mode.</a:t>
            </a:r>
          </a:p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HP 110 | Move 30 | Guard 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" y="5431536"/>
            <a:ext cx="10561320" cy="1188720"/>
          </a:xfrm>
          <a:prstGeom prst="rect">
            <a:avLst/>
          </a:prstGeom>
          <a:solidFill>
            <a:srgbClr val="05070A"/>
          </a:solidFill>
          <a:ln w="17780"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31" name="TextBox 30"/>
          <p:cNvSpPr txBox="1"/>
          <p:nvPr/>
        </p:nvSpPr>
        <p:spPr>
          <a:xfrm>
            <a:off x="960120" y="5779008"/>
            <a:ext cx="10259568" cy="27465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ctr"/>
            <a:r>
              <a:rPr sz="1600" b="1">
                <a:solidFill>
                  <a:srgbClr val="F7F3DF"/>
                </a:solidFill>
                <a:latin typeface="Aptos"/>
              </a:rPr>
              <a:t>Hero Chess marks players blue and enemies red on the map and turn queue. Cleric Z converts enemies into allies with glowing green markers.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01820"/>
          </a:solidFill>
          <a:ln>
            <a:solidFill>
              <a:srgbClr val="101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55448"/>
          </a:xfrm>
          <a:prstGeom prst="rect">
            <a:avLst/>
          </a:prstGeom>
          <a:solidFill>
            <a:srgbClr val="F6C94C"/>
          </a:solidFill>
          <a:ln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237744"/>
            <a:ext cx="7863840" cy="43891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lnSpcReduction="10000"/>
          </a:bodyPr>
          <a:lstStyle/>
          <a:p>
            <a:pPr algn="l"/>
            <a:r>
              <a:rPr sz="2700" b="1">
                <a:solidFill>
                  <a:srgbClr val="F7F3DF"/>
                </a:solidFill>
                <a:latin typeface="Aptos Display"/>
              </a:rPr>
              <a:t>Items And Map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94944"/>
            <a:ext cx="96012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0">
                <a:solidFill>
                  <a:srgbClr val="B9C2C9"/>
                </a:solidFill>
                <a:latin typeface="Aptos"/>
              </a:rPr>
              <a:t>Pickups and recovery 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43000"/>
            <a:ext cx="3429000" cy="1572768"/>
          </a:xfrm>
          <a:prstGeom prst="rect">
            <a:avLst/>
          </a:prstGeom>
          <a:solidFill>
            <a:srgbClr val="182231"/>
          </a:solidFill>
          <a:ln w="17780"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7" name="Picture 6" descr="ppt_fit_00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4" y="1280159"/>
            <a:ext cx="1103037" cy="110303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71016" y="1261872"/>
            <a:ext cx="25328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Spear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1554480"/>
            <a:ext cx="2551176" cy="10698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Cost: Action. Range: 0-4 ft. Roll: 1d6 Piercing.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15968" y="1143000"/>
            <a:ext cx="3429000" cy="1572768"/>
          </a:xfrm>
          <a:prstGeom prst="rect">
            <a:avLst/>
          </a:prstGeom>
          <a:solidFill>
            <a:srgbClr val="182231"/>
          </a:solidFill>
          <a:ln w="17780">
            <a:solidFill>
              <a:srgbClr val="75E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11" name="Picture 10" descr="ppt_fit_00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7092" y="1280159"/>
            <a:ext cx="1103037" cy="11030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84064" y="1261872"/>
            <a:ext cx="25328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Food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4064" y="1554480"/>
            <a:ext cx="2551176" cy="10698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The party eats food between encounters. Vanguard regains 1 Grit Mend, Tempo Break refreshes, Ember Sage and Wayfinder regain 1 focus charge. Cost: Free.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9016" y="1143000"/>
            <a:ext cx="3429000" cy="1572768"/>
          </a:xfrm>
          <a:prstGeom prst="rect">
            <a:avLst/>
          </a:prstGeom>
          <a:solidFill>
            <a:srgbClr val="182231"/>
          </a:solidFill>
          <a:ln w="17780">
            <a:solidFill>
              <a:srgbClr val="5C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15" name="Picture 14" descr="ppt_fit_003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0140" y="1280159"/>
            <a:ext cx="1103037" cy="110303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897112" y="1261872"/>
            <a:ext cx="25328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Safe Camp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97112" y="1554480"/>
            <a:ext cx="2551176" cy="10698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The party makes a safe camp. All resources fully restored and HP fully healed. Cost: Free.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91840"/>
            <a:ext cx="3429000" cy="1572768"/>
          </a:xfrm>
          <a:prstGeom prst="rect">
            <a:avLst/>
          </a:prstGeom>
          <a:solidFill>
            <a:srgbClr val="182231"/>
          </a:solidFill>
          <a:ln w="17780">
            <a:solidFill>
              <a:srgbClr val="B6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19" name="Picture 18" descr="ppt_fit_003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4" y="3428999"/>
            <a:ext cx="1103037" cy="110303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71016" y="3410712"/>
            <a:ext cx="25328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Pharhad Idol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71016" y="3703320"/>
            <a:ext cx="2551176" cy="10698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Stand next to the idol between encounters to bring every dead hero back to life. Cost: Free.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15968" y="3291840"/>
            <a:ext cx="3429000" cy="1572768"/>
          </a:xfrm>
          <a:prstGeom prst="rect">
            <a:avLst/>
          </a:prstGeom>
          <a:solidFill>
            <a:srgbClr val="182231"/>
          </a:solidFill>
          <a:ln w="17780">
            <a:solidFill>
              <a:srgbClr val="FF5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23" name="Picture 22" descr="ppt_fit_004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7092" y="3428999"/>
            <a:ext cx="1103037" cy="1103037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084064" y="3410712"/>
            <a:ext cx="25328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Salve Vial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84064" y="3703320"/>
            <a:ext cx="2551176" cy="10698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2d4+2 Salve Vial Cost: Action.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5623560"/>
            <a:ext cx="10424160" cy="402336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fontScale="85000" lnSpcReduction="10000"/>
          </a:bodyPr>
          <a:lstStyle/>
          <a:p>
            <a:pPr algn="ctr"/>
            <a:r>
              <a:rPr sz="1800" b="1">
                <a:solidFill>
                  <a:srgbClr val="F6C94C"/>
                </a:solidFill>
                <a:latin typeface="Aptos"/>
              </a:rPr>
              <a:t>Post-encounter hint: revive dead heroes at Pharhad Idol first, then use Safe Camp to restore skills and health.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01820"/>
          </a:solidFill>
          <a:ln>
            <a:solidFill>
              <a:srgbClr val="101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55448"/>
          </a:xfrm>
          <a:prstGeom prst="rect">
            <a:avLst/>
          </a:prstGeom>
          <a:solidFill>
            <a:srgbClr val="F6C94C"/>
          </a:solidFill>
          <a:ln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237744"/>
            <a:ext cx="7863840" cy="43891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lnSpcReduction="10000"/>
          </a:bodyPr>
          <a:lstStyle/>
          <a:p>
            <a:pPr algn="l"/>
            <a:r>
              <a:rPr sz="2700" b="1">
                <a:solidFill>
                  <a:srgbClr val="F7F3DF"/>
                </a:solidFill>
                <a:latin typeface="Aptos Display"/>
              </a:rPr>
              <a:t>Skill Encyclopedia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89787"/>
            <a:ext cx="96012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b="0" dirty="0">
                <a:solidFill>
                  <a:srgbClr val="B9C2C9"/>
                </a:solidFill>
                <a:latin typeface="Aptos"/>
              </a:rPr>
              <a:t>Attack and pressure skills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914400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FF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pic>
        <p:nvPicPr>
          <p:cNvPr id="7" name="Picture 6" descr="ppt_fit_00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051560"/>
            <a:ext cx="585216" cy="5852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71016" y="1033271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b="1">
                <a:solidFill>
                  <a:srgbClr val="F7F3DF"/>
                </a:solidFill>
                <a:latin typeface="Aptos"/>
              </a:rPr>
              <a:t>Steel Brand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1325880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100" b="0">
                <a:solidFill>
                  <a:srgbClr val="B9C2C9"/>
                </a:solidFill>
                <a:latin typeface="Aptos"/>
              </a:rPr>
              <a:t>Cost: Action. Range: 1-1 ft. Roll: 1d8 Slashing.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914400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FF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pic>
        <p:nvPicPr>
          <p:cNvPr id="11" name="Picture 10" descr="ppt_fit_00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051560"/>
            <a:ext cx="585216" cy="585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86016" y="1033271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b="1">
                <a:solidFill>
                  <a:srgbClr val="F7F3DF"/>
                </a:solidFill>
                <a:latin typeface="Aptos"/>
              </a:rPr>
              <a:t>Quick Blade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6016" y="1325880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100" b="0">
                <a:solidFill>
                  <a:srgbClr val="B9C2C9"/>
                </a:solidFill>
                <a:latin typeface="Aptos"/>
              </a:rPr>
              <a:t>Vex: ADV next attack. Cost: Action. Range: 1-1 ft. Roll: 1d6 Slashing.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984248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FF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pic>
        <p:nvPicPr>
          <p:cNvPr id="15" name="Picture 14" descr="ppt_fit_00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2121408"/>
            <a:ext cx="585216" cy="5852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71016" y="2103120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b="1">
                <a:solidFill>
                  <a:srgbClr val="F7F3DF"/>
                </a:solidFill>
                <a:latin typeface="Aptos"/>
              </a:rPr>
              <a:t>Cleaver Strike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" y="2395728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100" b="0">
                <a:solidFill>
                  <a:srgbClr val="B9C2C9"/>
                </a:solidFill>
                <a:latin typeface="Aptos"/>
              </a:rPr>
              <a:t>Graze: damage on miss Cost: Action. Range: 1-1 ft. Roll: 2d6 Slashing.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984248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FF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pic>
        <p:nvPicPr>
          <p:cNvPr id="19" name="Picture 18" descr="ppt_fit_004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7648" y="2121408"/>
            <a:ext cx="585216" cy="5852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86016" y="2103120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b="1">
                <a:solidFill>
                  <a:srgbClr val="F7F3DF"/>
                </a:solidFill>
                <a:latin typeface="Aptos"/>
              </a:rPr>
              <a:t>Curved Blade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395728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100" b="0">
                <a:solidFill>
                  <a:srgbClr val="B9C2C9"/>
                </a:solidFill>
                <a:latin typeface="Aptos"/>
              </a:rPr>
              <a:t>Cost: Action. Range: 1-1 ft. Roll: 1d6 Slashing.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054096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FF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pic>
        <p:nvPicPr>
          <p:cNvPr id="23" name="Picture 22" descr="ppt_fit_004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" y="3191256"/>
            <a:ext cx="585216" cy="58521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71016" y="3172968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b="1">
                <a:solidFill>
                  <a:srgbClr val="F7F3DF"/>
                </a:solidFill>
                <a:latin typeface="Aptos"/>
              </a:rPr>
              <a:t>Iron Maul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71016" y="3465576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100" b="0">
                <a:solidFill>
                  <a:srgbClr val="B9C2C9"/>
                </a:solidFill>
                <a:latin typeface="Aptos"/>
              </a:rPr>
              <a:t>Cost: Action. Roll: 2d8 Piercing.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054096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FF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pic>
        <p:nvPicPr>
          <p:cNvPr id="27" name="Picture 26" descr="ppt_fit_00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7648" y="3191256"/>
            <a:ext cx="585216" cy="58521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86016" y="3172968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b="1">
                <a:solidFill>
                  <a:srgbClr val="F7F3DF"/>
                </a:solidFill>
                <a:latin typeface="Aptos"/>
              </a:rPr>
              <a:t>Trail Bow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6016" y="3465576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100" b="0">
                <a:solidFill>
                  <a:srgbClr val="B9C2C9"/>
                </a:solidFill>
                <a:latin typeface="Aptos"/>
              </a:rPr>
              <a:t>Slow: -10 ft movement Cost: Action. Range: 2-30 ft. Roll: 1d8 Slashing.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123944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FF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pic>
        <p:nvPicPr>
          <p:cNvPr id="31" name="Picture 30" descr="ppt_fit_005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2648" y="4261104"/>
            <a:ext cx="585216" cy="58521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271016" y="4242816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b="1">
                <a:solidFill>
                  <a:srgbClr val="F7F3DF"/>
                </a:solidFill>
                <a:latin typeface="Aptos"/>
              </a:rPr>
              <a:t>Skirmish Bow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71016" y="4535424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100" b="0">
                <a:solidFill>
                  <a:srgbClr val="B9C2C9"/>
                </a:solidFill>
                <a:latin typeface="Aptos"/>
              </a:rPr>
              <a:t>Cost: Action. Range: 2-16 ft. Roll: 1d6 Slashing.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123944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FF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pic>
        <p:nvPicPr>
          <p:cNvPr id="35" name="Picture 34" descr="ppt_fit_005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27648" y="4261104"/>
            <a:ext cx="585216" cy="585216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986016" y="4242816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b="1" dirty="0">
                <a:solidFill>
                  <a:srgbClr val="F7F3DF"/>
                </a:solidFill>
                <a:latin typeface="Aptos"/>
              </a:rPr>
              <a:t>Bolt Launcher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86016" y="4535424"/>
            <a:ext cx="4379976" cy="34747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100" b="0" dirty="0">
                <a:solidFill>
                  <a:srgbClr val="B9C2C9"/>
                </a:solidFill>
                <a:latin typeface="Aptos"/>
              </a:rPr>
              <a:t>Push: 10 ft Cost: Action. Range: 2-20 ft. Roll: 1d10 Slashing.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5193792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FF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pic>
        <p:nvPicPr>
          <p:cNvPr id="39" name="Picture 38" descr="ppt_fit_003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2648" y="5330952"/>
            <a:ext cx="585216" cy="58521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271016" y="5312664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b="1">
                <a:solidFill>
                  <a:srgbClr val="F7F3DF"/>
                </a:solidFill>
                <a:latin typeface="Aptos"/>
              </a:rPr>
              <a:t>Spear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1016" y="5605272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 dirty="0">
                <a:solidFill>
                  <a:srgbClr val="B9C2C9"/>
                </a:solidFill>
                <a:latin typeface="Aptos"/>
              </a:rPr>
              <a:t>Cost: Action. Range: 0-4 ft. Roll: 1d6 Piercing.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5193792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FF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pic>
        <p:nvPicPr>
          <p:cNvPr id="43" name="Picture 42" descr="ppt_fit_005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27648" y="5330952"/>
            <a:ext cx="585216" cy="585216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986016" y="5312664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b="1" dirty="0">
                <a:solidFill>
                  <a:srgbClr val="F7F3DF"/>
                </a:solidFill>
                <a:latin typeface="Aptos"/>
              </a:rPr>
              <a:t>Two Kicks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86016" y="5605272"/>
            <a:ext cx="4379976" cy="3383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lnSpcReduction="10000"/>
          </a:bodyPr>
          <a:lstStyle/>
          <a:p>
            <a:pPr algn="l"/>
            <a:r>
              <a:rPr sz="1000" b="0" dirty="0">
                <a:solidFill>
                  <a:srgbClr val="B9C2C9"/>
                </a:solidFill>
                <a:latin typeface="Aptos"/>
              </a:rPr>
              <a:t>ADV next attack Cost: Action. Range: 1-2 ft. Roll: 1d6+4 Bludgeoning. Save: Dexterity DC 19; fail: prone.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-128016"/>
            <a:ext cx="12191999" cy="6858000"/>
          </a:xfrm>
          <a:prstGeom prst="rect">
            <a:avLst/>
          </a:prstGeom>
          <a:solidFill>
            <a:srgbClr val="101820"/>
          </a:solidFill>
          <a:ln>
            <a:solidFill>
              <a:srgbClr val="101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55448"/>
          </a:xfrm>
          <a:prstGeom prst="rect">
            <a:avLst/>
          </a:prstGeom>
          <a:solidFill>
            <a:srgbClr val="F6C94C"/>
          </a:solidFill>
          <a:ln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237744"/>
            <a:ext cx="7863840" cy="43891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lnSpcReduction="10000"/>
          </a:bodyPr>
          <a:lstStyle/>
          <a:p>
            <a:pPr algn="l"/>
            <a:r>
              <a:rPr sz="2700" b="1">
                <a:solidFill>
                  <a:srgbClr val="F7F3DF"/>
                </a:solidFill>
                <a:latin typeface="Aptos Display"/>
              </a:rPr>
              <a:t>Skill Encyclopedia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32104"/>
            <a:ext cx="96012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0" dirty="0">
                <a:solidFill>
                  <a:srgbClr val="B9C2C9"/>
                </a:solidFill>
                <a:latin typeface="Aptos"/>
              </a:rPr>
              <a:t>Support, movement, and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26464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75E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7" name="Picture 6" descr="ppt_fit_00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563624"/>
            <a:ext cx="585216" cy="5852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71016" y="1545335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Dash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1837944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Extra movement Cost: Action.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426464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75E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11" name="Picture 10" descr="ppt_fit_00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563624"/>
            <a:ext cx="585216" cy="585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86016" y="1545335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Disengage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6016" y="1837944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Do not provoke opportunity attacks Cost: Action.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496312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75E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15" name="Picture 14" descr="ppt_fit_00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2633472"/>
            <a:ext cx="585216" cy="5852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71016" y="2615184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Auto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" y="2907792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Cost: Free.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496312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75E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19" name="Picture 18" descr="ppt_fit_005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7648" y="2633472"/>
            <a:ext cx="585216" cy="5852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86016" y="2615184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Help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907792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Touch to stabilize Cost: Action. Range: 1-1 ft.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566160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75E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23" name="Picture 22" descr="ppt_fit_005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" y="3703320"/>
            <a:ext cx="585216" cy="58521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71016" y="3685032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Grit Mend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71016" y="3977640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Bonus: Heal 1d10 +2 Cost: Bonus Action.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566160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75E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27" name="Picture 26" descr="ppt_fit_006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7648" y="3703320"/>
            <a:ext cx="585216" cy="58521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86016" y="3685032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Field Mend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6016" y="3977640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Touch to Heal 2d8 + Wis [1 focus] Cost: Action. Range: 1-1 ft.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636008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75E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31" name="Picture 30" descr="ppt_fit_004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2648" y="4773168"/>
            <a:ext cx="585216" cy="58521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271016" y="4754880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Salve Vial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71016" y="5047488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2d4+2 Salve Vial Cost: Action.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636008"/>
            <a:ext cx="5257800" cy="1069848"/>
          </a:xfrm>
          <a:prstGeom prst="rect">
            <a:avLst/>
          </a:prstGeom>
          <a:solidFill>
            <a:srgbClr val="182231"/>
          </a:solidFill>
          <a:ln w="17780">
            <a:solidFill>
              <a:srgbClr val="75E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35" name="Picture 34" descr="ppt_fit_003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27648" y="4773168"/>
            <a:ext cx="585216" cy="585216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986016" y="4754880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Food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86016" y="5047488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The party eats food between encounters. Vanguard regains 1 Grit Mend, Tempo Break refreshes, Ember Sage and Wayfinder regain 1 focus charge. Cost: Free.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5705856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75E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39" name="Picture 38" descr="ppt_fit_003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2648" y="5843016"/>
            <a:ext cx="585216" cy="58521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271016" y="5824728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Safe Camp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1016" y="6117336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fontScale="92500" lnSpcReduction="10000"/>
          </a:bodyPr>
          <a:lstStyle/>
          <a:p>
            <a:pPr algn="l"/>
            <a:r>
              <a:rPr sz="1000" b="0">
                <a:solidFill>
                  <a:srgbClr val="B9C2C9"/>
                </a:solidFill>
                <a:latin typeface="Aptos"/>
              </a:rPr>
              <a:t>The party makes a safe camp. All resources fully restored and HP fully healed. Cost: Free.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01820"/>
          </a:solidFill>
          <a:ln>
            <a:solidFill>
              <a:srgbClr val="101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55448"/>
          </a:xfrm>
          <a:prstGeom prst="rect">
            <a:avLst/>
          </a:prstGeom>
          <a:solidFill>
            <a:srgbClr val="F6C94C"/>
          </a:solidFill>
          <a:ln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237744"/>
            <a:ext cx="7863840" cy="43891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lnSpcReduction="10000"/>
          </a:bodyPr>
          <a:lstStyle/>
          <a:p>
            <a:pPr algn="l"/>
            <a:r>
              <a:rPr sz="2700" b="1">
                <a:solidFill>
                  <a:srgbClr val="F7F3DF"/>
                </a:solidFill>
                <a:latin typeface="Aptos Display"/>
              </a:rPr>
              <a:t>Skill Encyclopedia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86384"/>
            <a:ext cx="96012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400" b="0">
                <a:solidFill>
                  <a:srgbClr val="B9C2C9"/>
                </a:solidFill>
                <a:latin typeface="Aptos"/>
              </a:rPr>
              <a:t>Magic, Pharhad, Cleric Z, and special effects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61872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B6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7" name="Picture 6" descr="ppt_fit_00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399032"/>
            <a:ext cx="585216" cy="5852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71016" y="1380743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600" b="1">
                <a:solidFill>
                  <a:srgbClr val="F7F3DF"/>
                </a:solidFill>
                <a:latin typeface="Aptos"/>
              </a:rPr>
              <a:t>Ember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1673352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050" b="0">
                <a:solidFill>
                  <a:srgbClr val="B9C2C9"/>
                </a:solidFill>
                <a:latin typeface="Aptos"/>
              </a:rPr>
              <a:t>Cost: Action. Range: 2-24 ft. Roll: 1d10 Slashing.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261872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B6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1" name="Picture 10" descr="ppt_fit_00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399032"/>
            <a:ext cx="585216" cy="585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86016" y="1380743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600" b="1">
                <a:solidFill>
                  <a:srgbClr val="F7F3DF"/>
                </a:solidFill>
                <a:latin typeface="Aptos"/>
              </a:rPr>
              <a:t>Homing Sparks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6016" y="1673352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050" b="0">
                <a:solidFill>
                  <a:srgbClr val="B9C2C9"/>
                </a:solidFill>
                <a:latin typeface="Aptos"/>
              </a:rPr>
              <a:t>Cost: Action. Range: 1-24 ft. Roll: 3d4+3 Psychic.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31720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B6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5" name="Picture 14" descr="ppt_fit_00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2468880"/>
            <a:ext cx="585216" cy="5852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71016" y="2450592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600" b="1">
                <a:solidFill>
                  <a:srgbClr val="F7F3DF"/>
                </a:solidFill>
                <a:latin typeface="Aptos"/>
              </a:rPr>
              <a:t>Inner Flare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" y="2743200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050" b="0">
                <a:solidFill>
                  <a:srgbClr val="B9C2C9"/>
                </a:solidFill>
                <a:latin typeface="Aptos"/>
              </a:rPr>
              <a:t>Cost: Bonus Action.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331720"/>
            <a:ext cx="5257800" cy="923544"/>
          </a:xfrm>
          <a:prstGeom prst="rect">
            <a:avLst/>
          </a:prstGeom>
          <a:solidFill>
            <a:srgbClr val="182231"/>
          </a:solidFill>
          <a:ln w="17780">
            <a:solidFill>
              <a:srgbClr val="B6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9" name="Picture 18" descr="ppt_fit_006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7648" y="2468880"/>
            <a:ext cx="585216" cy="5852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86016" y="2450592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600" b="1">
                <a:solidFill>
                  <a:srgbClr val="F7F3DF"/>
                </a:solidFill>
                <a:latin typeface="Aptos"/>
              </a:rPr>
              <a:t>Quarry Brand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743200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050" b="0" dirty="0">
                <a:solidFill>
                  <a:srgbClr val="B9C2C9"/>
                </a:solidFill>
                <a:latin typeface="Aptos"/>
              </a:rPr>
              <a:t>Bonus Action: Mark one enemy in range. Deal +1d6 Force on every hit against them. Concentration, up to 1 hour. 2 free casts per Safe Camp. Cost: Bonus Action. Range: 2-90 ft.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401568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B6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3" name="Picture 22" descr="ppt_fit_006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" y="3538728"/>
            <a:ext cx="585216" cy="58521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71016" y="3520440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800" b="1">
                <a:solidFill>
                  <a:srgbClr val="F7F3DF"/>
                </a:solidFill>
                <a:latin typeface="Aptos"/>
              </a:rPr>
              <a:t>Love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71016" y="3813048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Melee touch. On contact, the target becomes your ally.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401568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B6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7" name="Picture 26" descr="ppt_fit_006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7648" y="3538728"/>
            <a:ext cx="585216" cy="58521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86016" y="3520440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800" b="1">
                <a:solidFill>
                  <a:srgbClr val="F7F3DF"/>
                </a:solidFill>
                <a:latin typeface="Aptos"/>
              </a:rPr>
              <a:t>Truth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6016" y="3813048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Range 4 tiles, line of sight. Visible enemies in radius make Wisdom DC 19 saves; failures become allies.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471416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B6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31" name="Picture 30" descr="ppt_fit_006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2648" y="4608576"/>
            <a:ext cx="585216" cy="58521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271016" y="4590288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600" b="1">
                <a:solidFill>
                  <a:srgbClr val="F7F3DF"/>
                </a:solidFill>
                <a:latin typeface="Aptos"/>
              </a:rPr>
              <a:t>Divine Restore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71016" y="4882896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050" b="0">
                <a:solidFill>
                  <a:srgbClr val="B9C2C9"/>
                </a:solidFill>
                <a:latin typeface="Aptos"/>
              </a:rPr>
              <a:t>Cost: Free. Range: 0-120 ft. Target: Sphere area, radius 30 ft.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471416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35" name="Picture 34" descr="ppt_fit_003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27648" y="4608576"/>
            <a:ext cx="585216" cy="585216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986016" y="4590288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600" b="1">
                <a:solidFill>
                  <a:srgbClr val="F7F3DF"/>
                </a:solidFill>
                <a:latin typeface="Aptos"/>
              </a:rPr>
              <a:t>Pharhad Idol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86016" y="4882896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050" b="0">
                <a:solidFill>
                  <a:srgbClr val="B9C2C9"/>
                </a:solidFill>
                <a:latin typeface="Aptos"/>
              </a:rPr>
              <a:t>Stand next to the idol between encounters to bring every dead hero back to life. Cost: Free.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5541264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39" name="Picture 38" descr="ppt_fit_007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2648" y="5678424"/>
            <a:ext cx="585216" cy="58521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271016" y="5660136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600" b="1">
                <a:solidFill>
                  <a:srgbClr val="F7F3DF"/>
                </a:solidFill>
                <a:latin typeface="Aptos"/>
              </a:rPr>
              <a:t>Tempo Break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1016" y="5952744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050" b="0">
                <a:solidFill>
                  <a:srgbClr val="B9C2C9"/>
                </a:solidFill>
                <a:latin typeface="Aptos"/>
              </a:rPr>
              <a:t>Free Action: Take one additional Attack action this turn. 1 per Food. Cost: Free.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5541264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43" name="Picture 42" descr="ppt_fit_0073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27648" y="5678424"/>
            <a:ext cx="585216" cy="585216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986016" y="5660136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600" b="1">
                <a:solidFill>
                  <a:srgbClr val="F7F3DF"/>
                </a:solidFill>
                <a:latin typeface="Aptos"/>
              </a:rPr>
              <a:t>Flesh Beast Bite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86016" y="5952744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fontScale="92500"/>
          </a:bodyPr>
          <a:lstStyle/>
          <a:p>
            <a:pPr algn="l"/>
            <a:r>
              <a:rPr sz="1000" b="0">
                <a:solidFill>
                  <a:srgbClr val="B9C2C9"/>
                </a:solidFill>
                <a:latin typeface="Aptos"/>
              </a:rPr>
              <a:t>Cost: Action. Range: 1-1 ft. Roll: 2d6 Slashing. Save: Strength DC 11; fail: prone.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01820"/>
          </a:solidFill>
          <a:ln>
            <a:solidFill>
              <a:srgbClr val="101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55448"/>
          </a:xfrm>
          <a:prstGeom prst="rect">
            <a:avLst/>
          </a:prstGeom>
          <a:solidFill>
            <a:srgbClr val="F6C94C"/>
          </a:solidFill>
          <a:ln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237744"/>
            <a:ext cx="7863840" cy="43891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lnSpcReduction="10000"/>
          </a:bodyPr>
          <a:lstStyle/>
          <a:p>
            <a:pPr algn="l"/>
            <a:r>
              <a:rPr sz="2700" b="1">
                <a:solidFill>
                  <a:srgbClr val="F7F3DF"/>
                </a:solidFill>
                <a:latin typeface="Aptos Display"/>
              </a:rPr>
              <a:t>Image Atlas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94944"/>
            <a:ext cx="96012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100" b="0">
                <a:solidFill>
                  <a:srgbClr val="B9C2C9"/>
                </a:solidFill>
                <a:latin typeface="Aptos"/>
              </a:rPr>
              <a:t>Skill icons</a:t>
            </a:r>
          </a:p>
        </p:txBody>
      </p:sp>
      <p:pic>
        <p:nvPicPr>
          <p:cNvPr id="6" name="Picture 5" descr="ppt_fit_00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102279" y="-1299566"/>
            <a:ext cx="20167958" cy="979586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01820"/>
          </a:solidFill>
          <a:ln>
            <a:solidFill>
              <a:srgbClr val="101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55448"/>
          </a:xfrm>
          <a:prstGeom prst="rect">
            <a:avLst/>
          </a:prstGeom>
          <a:solidFill>
            <a:srgbClr val="F6C94C"/>
          </a:solidFill>
          <a:ln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237744"/>
            <a:ext cx="7863840" cy="43891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lnSpcReduction="10000"/>
          </a:bodyPr>
          <a:lstStyle/>
          <a:p>
            <a:pPr algn="l"/>
            <a:r>
              <a:rPr sz="2700" b="1">
                <a:solidFill>
                  <a:srgbClr val="F7F3DF"/>
                </a:solidFill>
                <a:latin typeface="Aptos Display"/>
              </a:rPr>
              <a:t>Road Wisdom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94944"/>
            <a:ext cx="96012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0">
                <a:solidFill>
                  <a:srgbClr val="B9C2C9"/>
                </a:solidFill>
                <a:latin typeface="Aptos"/>
              </a:rPr>
              <a:t>A practical play guide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44752"/>
            <a:ext cx="5257800" cy="1078992"/>
          </a:xfrm>
          <a:prstGeom prst="rect">
            <a:avLst/>
          </a:prstGeom>
          <a:solidFill>
            <a:srgbClr val="182231"/>
          </a:solidFill>
          <a:ln w="17780">
            <a:solidFill>
              <a:srgbClr val="5C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7" name="TextBox 6"/>
          <p:cNvSpPr txBox="1"/>
          <p:nvPr/>
        </p:nvSpPr>
        <p:spPr>
          <a:xfrm>
            <a:off x="621792" y="1481328"/>
            <a:ext cx="50200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400" b="1">
                <a:solidFill>
                  <a:srgbClr val="F7F3DF"/>
                </a:solidFill>
                <a:latin typeface="Aptos"/>
              </a:rPr>
              <a:t>Protect action economy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883664"/>
            <a:ext cx="5020056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Use Bonus Actions before attacks: Grit Mend, Inner Flare, Quarry Brand, then hit.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444752"/>
            <a:ext cx="5257800" cy="1078992"/>
          </a:xfrm>
          <a:prstGeom prst="rect">
            <a:avLst/>
          </a:prstGeom>
          <a:solidFill>
            <a:srgbClr val="182231"/>
          </a:solidFill>
          <a:ln w="17780">
            <a:solidFill>
              <a:srgbClr val="75E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0" name="TextBox 9"/>
          <p:cNvSpPr txBox="1"/>
          <p:nvPr/>
        </p:nvSpPr>
        <p:spPr>
          <a:xfrm>
            <a:off x="6336792" y="1481328"/>
            <a:ext cx="50200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400" b="1">
                <a:solidFill>
                  <a:srgbClr val="F7F3DF"/>
                </a:solidFill>
                <a:latin typeface="Aptos"/>
              </a:rPr>
              <a:t>Do not drift apart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883664"/>
            <a:ext cx="5020056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The party survives better when healers can reach unconscious allies.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017520"/>
            <a:ext cx="5257800" cy="1078992"/>
          </a:xfrm>
          <a:prstGeom prst="rect">
            <a:avLst/>
          </a:prstGeom>
          <a:solidFill>
            <a:srgbClr val="182231"/>
          </a:solidFill>
          <a:ln w="17780">
            <a:solidFill>
              <a:srgbClr val="FF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3" name="TextBox 12"/>
          <p:cNvSpPr txBox="1"/>
          <p:nvPr/>
        </p:nvSpPr>
        <p:spPr>
          <a:xfrm>
            <a:off x="621792" y="3054096"/>
            <a:ext cx="50200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400" b="1">
                <a:solidFill>
                  <a:srgbClr val="F7F3DF"/>
                </a:solidFill>
                <a:latin typeface="Aptos"/>
              </a:rPr>
              <a:t>Respect opportunity attacks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456432"/>
            <a:ext cx="5020056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If an enemy is adjacent, Disengage before walking away.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017520"/>
            <a:ext cx="5257800" cy="1078992"/>
          </a:xfrm>
          <a:prstGeom prst="rect">
            <a:avLst/>
          </a:prstGeom>
          <a:solidFill>
            <a:srgbClr val="182231"/>
          </a:solidFill>
          <a:ln w="17780">
            <a:solidFill>
              <a:srgbClr val="FF5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6" name="TextBox 15"/>
          <p:cNvSpPr txBox="1"/>
          <p:nvPr/>
        </p:nvSpPr>
        <p:spPr>
          <a:xfrm>
            <a:off x="6336792" y="3054096"/>
            <a:ext cx="50200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400" b="1">
                <a:solidFill>
                  <a:srgbClr val="F7F3DF"/>
                </a:solidFill>
                <a:latin typeface="Aptos"/>
              </a:rPr>
              <a:t>Recover between fights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3456432"/>
            <a:ext cx="5020056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Safe Camp is not just flavor; it restores the resources that win the next encounter.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590288"/>
            <a:ext cx="5257800" cy="1078992"/>
          </a:xfrm>
          <a:prstGeom prst="rect">
            <a:avLst/>
          </a:prstGeom>
          <a:solidFill>
            <a:srgbClr val="182231"/>
          </a:solidFill>
          <a:ln w="17780">
            <a:solidFill>
              <a:srgbClr val="B6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9" name="TextBox 18"/>
          <p:cNvSpPr txBox="1"/>
          <p:nvPr/>
        </p:nvSpPr>
        <p:spPr>
          <a:xfrm>
            <a:off x="621792" y="4626864"/>
            <a:ext cx="50200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400" b="1">
                <a:solidFill>
                  <a:srgbClr val="F7F3DF"/>
                </a:solidFill>
                <a:latin typeface="Aptos"/>
              </a:rPr>
              <a:t>Use the idol first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029200"/>
            <a:ext cx="5020056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If anyone is dead, Pharhad Idol before Safe Camp.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4590288"/>
            <a:ext cx="5257800" cy="1078992"/>
          </a:xfrm>
          <a:prstGeom prst="rect">
            <a:avLst/>
          </a:prstGeom>
          <a:solidFill>
            <a:srgbClr val="182231"/>
          </a:solidFill>
          <a:ln w="17780"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2" name="TextBox 21"/>
          <p:cNvSpPr txBox="1"/>
          <p:nvPr/>
        </p:nvSpPr>
        <p:spPr>
          <a:xfrm>
            <a:off x="6336792" y="4626864"/>
            <a:ext cx="50200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2400" b="1">
                <a:solidFill>
                  <a:srgbClr val="F7F3DF"/>
                </a:solidFill>
                <a:latin typeface="Aptos"/>
              </a:rPr>
              <a:t>Restart from save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6792" y="5029200"/>
            <a:ext cx="5020056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300" b="0">
                <a:solidFill>
                  <a:srgbClr val="B9C2C9"/>
                </a:solidFill>
                <a:latin typeface="Aptos"/>
              </a:rPr>
              <a:t>After Game Over, choose Restart From Save to load the last autosave when one exists.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2071</Words>
  <Application>Microsoft Office PowerPoint</Application>
  <PresentationFormat>Widescreen</PresentationFormat>
  <Paragraphs>207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Pharhad Road Manual</dc:title>
  <dc:subject>Editable PowerPoint manual for The Pharhad Road</dc:subject>
  <dc:creator>OpenAI Codex</dc:creator>
  <cp:keywords/>
  <dc:description>generated using python-pptx</dc:description>
  <cp:lastModifiedBy>F. T.</cp:lastModifiedBy>
  <cp:revision>19</cp:revision>
  <dcterms:created xsi:type="dcterms:W3CDTF">2013-01-27T09:14:16Z</dcterms:created>
  <dcterms:modified xsi:type="dcterms:W3CDTF">2026-05-20T00:25:51Z</dcterms:modified>
  <cp:category/>
</cp:coreProperties>
</file>